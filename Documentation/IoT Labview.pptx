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9"/>
  </p:notesMasterIdLst>
  <p:handoutMasterIdLst>
    <p:handoutMasterId r:id="rId40"/>
  </p:handoutMasterIdLst>
  <p:sldIdLst>
    <p:sldId id="353" r:id="rId2"/>
    <p:sldId id="256" r:id="rId3"/>
    <p:sldId id="257" r:id="rId4"/>
    <p:sldId id="302" r:id="rId5"/>
    <p:sldId id="416" r:id="rId6"/>
    <p:sldId id="432" r:id="rId7"/>
    <p:sldId id="433" r:id="rId8"/>
    <p:sldId id="434" r:id="rId9"/>
    <p:sldId id="435" r:id="rId10"/>
    <p:sldId id="440" r:id="rId11"/>
    <p:sldId id="441" r:id="rId12"/>
    <p:sldId id="422" r:id="rId13"/>
    <p:sldId id="421" r:id="rId14"/>
    <p:sldId id="419" r:id="rId15"/>
    <p:sldId id="420" r:id="rId16"/>
    <p:sldId id="423" r:id="rId17"/>
    <p:sldId id="424" r:id="rId18"/>
    <p:sldId id="431" r:id="rId19"/>
    <p:sldId id="305" r:id="rId20"/>
    <p:sldId id="355" r:id="rId21"/>
    <p:sldId id="399" r:id="rId22"/>
    <p:sldId id="262" r:id="rId23"/>
    <p:sldId id="442" r:id="rId24"/>
    <p:sldId id="443" r:id="rId25"/>
    <p:sldId id="445" r:id="rId26"/>
    <p:sldId id="446" r:id="rId27"/>
    <p:sldId id="447" r:id="rId28"/>
    <p:sldId id="448" r:id="rId29"/>
    <p:sldId id="449" r:id="rId30"/>
    <p:sldId id="450" r:id="rId31"/>
    <p:sldId id="451" r:id="rId32"/>
    <p:sldId id="415" r:id="rId33"/>
    <p:sldId id="410" r:id="rId34"/>
    <p:sldId id="452" r:id="rId35"/>
    <p:sldId id="411" r:id="rId36"/>
    <p:sldId id="453" r:id="rId37"/>
    <p:sldId id="311" r:id="rId38"/>
  </p:sldIdLst>
  <p:sldSz cx="9144000" cy="5143500" type="screen16x9"/>
  <p:notesSz cx="7315200" cy="9601200"/>
  <p:embeddedFontLst>
    <p:embeddedFont>
      <p:font typeface="Sora" panose="020B0604020202020204" charset="0"/>
      <p:regular r:id="rId41"/>
      <p:bold r:id="rId42"/>
    </p:embeddedFont>
    <p:embeddedFont>
      <p:font typeface="Lato" panose="020B0604020202020204" charset="0"/>
      <p:regular r:id="rId43"/>
      <p:bold r:id="rId44"/>
      <p:italic r:id="rId45"/>
      <p:boldItalic r:id="rId46"/>
    </p:embeddedFont>
    <p:embeddedFont>
      <p:font typeface="Anaheim" panose="020B0604020202020204" charset="0"/>
      <p:regular r:id="rId47"/>
    </p:embeddedFont>
    <p:embeddedFont>
      <p:font typeface="Bebas Neue" panose="020B0604020202020204" charset="0"/>
      <p:regular r:id="rId48"/>
    </p:embeddedFont>
    <p:embeddedFont>
      <p:font typeface="Calibri" panose="020F0502020204030204" pitchFamily="34" charset="0"/>
      <p:regular r:id="rId49"/>
      <p:bold r:id="rId50"/>
      <p:italic r:id="rId51"/>
      <p:boldItalic r:id="rId52"/>
    </p:embeddedFont>
    <p:embeddedFont>
      <p:font typeface="Segoe UI" panose="020B0502040204020203" pitchFamily="34" charset="0"/>
      <p:regular r:id="rId53"/>
      <p:bold r:id="rId54"/>
      <p:italic r:id="rId55"/>
      <p:boldItalic r:id="rId56"/>
    </p:embeddedFont>
    <p:embeddedFont>
      <p:font typeface="Sora SemiBold" panose="020B0604020202020204" charset="0"/>
      <p:bold r:id="rId5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7" roundtripDataSignature="AMtx7mjklaCVvtpHUWSNd0ixSQ+jquZ75w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3799B01-314C-49CC-DB20-C95367B9D319}" name="Cristina Gutiérrez Jiménez" initials="CG" userId="S::cgutierrez@freepikco.onmicrosoft.com::9b066b6f-0938-49e6-9aab-2bba891a0f35" providerId="AD"/>
  <p188:author id="{07507977-5039-A8F7-4EA5-74658BDCF63F}" name="jmolinos@intranet.freepikcompany.com" initials="j" userId="S-1-5-21-179105700-2695781124-4246538168-241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667EF1"/>
    <a:srgbClr val="FF6600"/>
    <a:srgbClr val="2C2A9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6DF7B9C-EBDF-46A0-83E7-B09A4955A7FC}">
  <a:tblStyle styleId="{A6DF7B9C-EBDF-46A0-83E7-B09A4955A7F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43" autoAdjust="0"/>
    <p:restoredTop sz="94712" autoAdjust="0"/>
  </p:normalViewPr>
  <p:slideViewPr>
    <p:cSldViewPr snapToGrid="0" showGuides="1">
      <p:cViewPr varScale="1">
        <p:scale>
          <a:sx n="140" d="100"/>
          <a:sy n="140" d="100"/>
        </p:scale>
        <p:origin x="816" y="2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81" d="100"/>
          <a:sy n="81" d="100"/>
        </p:scale>
        <p:origin x="389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2.fntdata"/><Relationship Id="rId47" Type="http://schemas.openxmlformats.org/officeDocument/2006/relationships/font" Target="fonts/font7.fntdata"/><Relationship Id="rId50" Type="http://schemas.openxmlformats.org/officeDocument/2006/relationships/font" Target="fonts/font10.fntdata"/><Relationship Id="rId55" Type="http://schemas.openxmlformats.org/officeDocument/2006/relationships/font" Target="fonts/font15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45" Type="http://schemas.openxmlformats.org/officeDocument/2006/relationships/font" Target="fonts/font5.fntdata"/><Relationship Id="rId53" Type="http://schemas.openxmlformats.org/officeDocument/2006/relationships/font" Target="fonts/font13.fntdata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82" Type="http://schemas.microsoft.com/office/2018/10/relationships/authors" Target="author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3.fntdata"/><Relationship Id="rId48" Type="http://schemas.openxmlformats.org/officeDocument/2006/relationships/font" Target="fonts/font8.fntdata"/><Relationship Id="rId56" Type="http://schemas.openxmlformats.org/officeDocument/2006/relationships/font" Target="fonts/font16.fntdata"/><Relationship Id="rId77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font" Target="fonts/font11.fntdata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6.fntdata"/><Relationship Id="rId20" Type="http://schemas.openxmlformats.org/officeDocument/2006/relationships/slide" Target="slides/slide19.xml"/><Relationship Id="rId41" Type="http://schemas.openxmlformats.org/officeDocument/2006/relationships/font" Target="fonts/font1.fntdata"/><Relationship Id="rId54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9.fntdata"/><Relationship Id="rId57" Type="http://schemas.openxmlformats.org/officeDocument/2006/relationships/font" Target="fonts/font17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4.fntdata"/><Relationship Id="rId52" Type="http://schemas.openxmlformats.org/officeDocument/2006/relationships/font" Target="fonts/font12.fntdata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1E31DFB-DBB3-AA60-7A6C-2A4A2F7F6E2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0449E5-1312-2FA6-E29F-1F0F0D3CA9D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0D296FE1-22E7-4AE4-8C76-B00C76814543}" type="datetimeFigureOut">
              <a:rPr lang="es-ES" smtClean="0"/>
              <a:t>08/06/2026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ED1F64-243D-6721-A717-7011DEE7402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0932CC-B4C6-2646-5100-DF9301D2DF0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20CFACC9-2CF6-473D-A817-FB7A1582230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5439795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024" userDrawn="1">
          <p15:clr>
            <a:srgbClr val="F26B43"/>
          </p15:clr>
        </p15:guide>
        <p15:guide id="2" pos="2304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96645" rIns="96645" bIns="9664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45" tIns="96645" rIns="96645" bIns="96645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75" name="Google Shape;7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45" tIns="96645" rIns="96645" bIns="96645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  <p:sp>
        <p:nvSpPr>
          <p:cNvPr id="83" name="Google Shape;8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45" tIns="96645" rIns="96645" bIns="96645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968507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45" tIns="96645" rIns="96645" bIns="96645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41" name="Google Shape;14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718716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45" tIns="96645" rIns="96645" bIns="96645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654019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983039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0382925B-D1F4-7E60-77FA-74404F11D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>
            <a:extLst>
              <a:ext uri="{FF2B5EF4-FFF2-40B4-BE49-F238E27FC236}">
                <a16:creationId xmlns:a16="http://schemas.microsoft.com/office/drawing/2014/main" id="{3FBE686E-8DF2-3311-6013-8885F7ABD0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7:notes">
            <a:extLst>
              <a:ext uri="{FF2B5EF4-FFF2-40B4-BE49-F238E27FC236}">
                <a16:creationId xmlns:a16="http://schemas.microsoft.com/office/drawing/2014/main" id="{F2E3FD82-3A84-617B-4146-4A34066942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884641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45" tIns="96645" rIns="96645" bIns="96645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30" name="Google Shape;1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851154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45" tIns="96645" rIns="96645" bIns="96645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30" name="Google Shape;1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675451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45" tIns="96645" rIns="96645" bIns="96645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30" name="Google Shape;1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503905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45" tIns="96645" rIns="96645" bIns="96645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30" name="Google Shape;1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796082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4FB1BE21-A7DF-5998-5F2A-23964B794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>
            <a:extLst>
              <a:ext uri="{FF2B5EF4-FFF2-40B4-BE49-F238E27FC236}">
                <a16:creationId xmlns:a16="http://schemas.microsoft.com/office/drawing/2014/main" id="{DD4AC6B9-AB1E-F471-7B1F-EC218CFDDD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7:notes">
            <a:extLst>
              <a:ext uri="{FF2B5EF4-FFF2-40B4-BE49-F238E27FC236}">
                <a16:creationId xmlns:a16="http://schemas.microsoft.com/office/drawing/2014/main" id="{3056A0A6-621E-D1D8-445C-AD4898FD9A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569825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4FB1BE21-A7DF-5998-5F2A-23964B794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>
            <a:extLst>
              <a:ext uri="{FF2B5EF4-FFF2-40B4-BE49-F238E27FC236}">
                <a16:creationId xmlns:a16="http://schemas.microsoft.com/office/drawing/2014/main" id="{DD4AC6B9-AB1E-F471-7B1F-EC218CFDDD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7:notes">
            <a:extLst>
              <a:ext uri="{FF2B5EF4-FFF2-40B4-BE49-F238E27FC236}">
                <a16:creationId xmlns:a16="http://schemas.microsoft.com/office/drawing/2014/main" id="{3056A0A6-621E-D1D8-445C-AD4898FD9A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54491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C6D0158A-0228-67D2-3325-88A8E5738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>
            <a:extLst>
              <a:ext uri="{FF2B5EF4-FFF2-40B4-BE49-F238E27FC236}">
                <a16:creationId xmlns:a16="http://schemas.microsoft.com/office/drawing/2014/main" id="{CF6B1359-8DAC-D9B5-A182-7A26274C12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7:notes">
            <a:extLst>
              <a:ext uri="{FF2B5EF4-FFF2-40B4-BE49-F238E27FC236}">
                <a16:creationId xmlns:a16="http://schemas.microsoft.com/office/drawing/2014/main" id="{E4BADB2D-F17A-6906-6693-DF28F29E9E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265542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45" tIns="96645" rIns="96645" bIns="96645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75" name="Google Shape;7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215548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45" tIns="96645" rIns="96645" bIns="96645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64756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>
            <a:spLocks noGrp="1"/>
          </p:cNvSpPr>
          <p:nvPr>
            <p:ph type="ctrTitle"/>
          </p:nvPr>
        </p:nvSpPr>
        <p:spPr>
          <a:xfrm>
            <a:off x="4572000" y="1703437"/>
            <a:ext cx="3848100" cy="11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Bebas Neue"/>
              <a:buNone/>
              <a:defRPr sz="4800">
                <a:solidFill>
                  <a:schemeClr val="bg2"/>
                </a:solidFill>
                <a:latin typeface="Sora SemiBold" pitchFamily="2" charset="0"/>
                <a:cs typeface="Sora SemiBold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" name="Google Shape;13;p15"/>
          <p:cNvSpPr txBox="1">
            <a:spLocks noGrp="1"/>
          </p:cNvSpPr>
          <p:nvPr>
            <p:ph type="subTitle" idx="1"/>
          </p:nvPr>
        </p:nvSpPr>
        <p:spPr>
          <a:xfrm>
            <a:off x="4572000" y="2893255"/>
            <a:ext cx="3848100" cy="351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bg2"/>
                </a:solidFill>
                <a:latin typeface="Lato" panose="020F0502020204030203" pitchFamily="34" charset="0"/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>
            <a:spLocks noGrp="1"/>
          </p:cNvSpPr>
          <p:nvPr>
            <p:ph type="title"/>
          </p:nvPr>
        </p:nvSpPr>
        <p:spPr>
          <a:xfrm>
            <a:off x="3771900" y="2028890"/>
            <a:ext cx="4648200" cy="2028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Bebas Neue"/>
              <a:buNone/>
              <a:defRPr sz="5000">
                <a:solidFill>
                  <a:schemeClr val="bg2"/>
                </a:solidFill>
                <a:latin typeface="Sora SemiBold" pitchFamily="2" charset="0"/>
                <a:cs typeface="Sora SemiBold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1"/>
          </p:nvPr>
        </p:nvSpPr>
        <p:spPr>
          <a:xfrm>
            <a:off x="3771900" y="4057154"/>
            <a:ext cx="4648200" cy="533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Anaheim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37" name="Google Shape;37;p18"/>
          <p:cNvSpPr txBox="1">
            <a:spLocks noGrp="1"/>
          </p:cNvSpPr>
          <p:nvPr>
            <p:ph type="body" idx="2"/>
          </p:nvPr>
        </p:nvSpPr>
        <p:spPr>
          <a:xfrm>
            <a:off x="723900" y="572118"/>
            <a:ext cx="2080966" cy="164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8800">
                <a:solidFill>
                  <a:schemeClr val="tx2"/>
                </a:solidFill>
                <a:latin typeface="Sora SemiBold" pitchFamily="2" charset="0"/>
                <a:ea typeface="Sora SemiBold" pitchFamily="2" charset="0"/>
                <a:cs typeface="Sora SemiBold" pitchFamily="2" charset="0"/>
                <a:sym typeface="Bebas Neue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bg2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3"/>
          <p:cNvSpPr txBox="1">
            <a:spLocks noGrp="1"/>
          </p:cNvSpPr>
          <p:nvPr>
            <p:ph type="title"/>
          </p:nvPr>
        </p:nvSpPr>
        <p:spPr>
          <a:xfrm>
            <a:off x="723900" y="552450"/>
            <a:ext cx="7696200" cy="568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1"/>
                </a:solidFill>
                <a:latin typeface="Sora SemiBold" pitchFamily="2" charset="0"/>
                <a:cs typeface="Sora SemiBold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"/>
          <p:cNvSpPr txBox="1">
            <a:spLocks noGrp="1"/>
          </p:cNvSpPr>
          <p:nvPr>
            <p:ph type="title"/>
          </p:nvPr>
        </p:nvSpPr>
        <p:spPr>
          <a:xfrm>
            <a:off x="723900" y="1325526"/>
            <a:ext cx="7696200" cy="2574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2"/>
                </a:solidFill>
                <a:latin typeface="Sora SemiBold" pitchFamily="2" charset="0"/>
                <a:cs typeface="Sora SemiBold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2"/>
          <p:cNvSpPr txBox="1">
            <a:spLocks noGrp="1"/>
          </p:cNvSpPr>
          <p:nvPr>
            <p:ph type="title"/>
          </p:nvPr>
        </p:nvSpPr>
        <p:spPr>
          <a:xfrm>
            <a:off x="723900" y="1297126"/>
            <a:ext cx="3407113" cy="1971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bg2"/>
                </a:solidFill>
                <a:latin typeface="Sora SemiBold" pitchFamily="2" charset="0"/>
                <a:cs typeface="Sora SemiBold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7" name="Google Shape;57;p22"/>
          <p:cNvSpPr>
            <a:spLocks noGrp="1"/>
          </p:cNvSpPr>
          <p:nvPr>
            <p:ph type="pic" idx="2"/>
          </p:nvPr>
        </p:nvSpPr>
        <p:spPr>
          <a:xfrm>
            <a:off x="4572000" y="744140"/>
            <a:ext cx="384810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22"/>
          <p:cNvSpPr txBox="1">
            <a:spLocks noGrp="1"/>
          </p:cNvSpPr>
          <p:nvPr>
            <p:ph type="body" idx="1"/>
          </p:nvPr>
        </p:nvSpPr>
        <p:spPr>
          <a:xfrm>
            <a:off x="723900" y="3278017"/>
            <a:ext cx="3407113" cy="1121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bg2"/>
                </a:solidFill>
                <a:latin typeface="Lato" panose="020F0502020204030203" pitchFamily="34" charset="0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bg>
      <p:bgPr>
        <a:solidFill>
          <a:schemeClr val="bg2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7"/>
          <p:cNvSpPr txBox="1">
            <a:spLocks noGrp="1"/>
          </p:cNvSpPr>
          <p:nvPr>
            <p:ph type="title"/>
          </p:nvPr>
        </p:nvSpPr>
        <p:spPr>
          <a:xfrm>
            <a:off x="723900" y="1543455"/>
            <a:ext cx="7696200" cy="1307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Bebas Neue"/>
              <a:buNone/>
              <a:defRPr sz="4800">
                <a:solidFill>
                  <a:schemeClr val="bg1"/>
                </a:solidFill>
                <a:latin typeface="Sora SemiBold" pitchFamily="2" charset="0"/>
                <a:cs typeface="Sora SemiBold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1" name="Google Shape;71;p27"/>
          <p:cNvSpPr txBox="1">
            <a:spLocks noGrp="1"/>
          </p:cNvSpPr>
          <p:nvPr>
            <p:ph type="body" idx="1"/>
          </p:nvPr>
        </p:nvSpPr>
        <p:spPr>
          <a:xfrm>
            <a:off x="723900" y="2850609"/>
            <a:ext cx="7696200" cy="495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tx1"/>
                </a:solidFill>
                <a:latin typeface="Lato" panose="020F0502020204030203" pitchFamily="34" charset="0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44518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bg>
      <p:bgPr>
        <a:solidFill>
          <a:schemeClr val="bg2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1"/>
          <p:cNvSpPr txBox="1">
            <a:spLocks noGrp="1"/>
          </p:cNvSpPr>
          <p:nvPr>
            <p:ph type="title"/>
          </p:nvPr>
        </p:nvSpPr>
        <p:spPr>
          <a:xfrm>
            <a:off x="723900" y="552450"/>
            <a:ext cx="7696200" cy="528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1"/>
                </a:solidFill>
                <a:latin typeface="Sora SemiBold" pitchFamily="2" charset="0"/>
                <a:cs typeface="Sora SemiBold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9" name="Google Shape;49;p21"/>
          <p:cNvSpPr txBox="1">
            <a:spLocks noGrp="1"/>
          </p:cNvSpPr>
          <p:nvPr>
            <p:ph type="body" idx="1"/>
          </p:nvPr>
        </p:nvSpPr>
        <p:spPr>
          <a:xfrm>
            <a:off x="723901" y="3078954"/>
            <a:ext cx="2531804" cy="839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400">
                <a:solidFill>
                  <a:schemeClr val="tx1"/>
                </a:solidFill>
                <a:latin typeface="Lato" panose="020F0502020204030203" pitchFamily="34" charset="0"/>
              </a:defRPr>
            </a:lvl1pPr>
            <a:lvl2pPr marL="914400" lvl="1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50" name="Google Shape;50;p21"/>
          <p:cNvSpPr txBox="1">
            <a:spLocks noGrp="1"/>
          </p:cNvSpPr>
          <p:nvPr>
            <p:ph type="body" idx="2"/>
          </p:nvPr>
        </p:nvSpPr>
        <p:spPr>
          <a:xfrm>
            <a:off x="3306099" y="3078954"/>
            <a:ext cx="2531804" cy="839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400">
                <a:solidFill>
                  <a:schemeClr val="tx1"/>
                </a:solidFill>
                <a:latin typeface="Lato" panose="020F0502020204030203" pitchFamily="34" charset="0"/>
              </a:defRPr>
            </a:lvl1pPr>
            <a:lvl2pPr marL="914400" lvl="1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51" name="Google Shape;51;p21"/>
          <p:cNvSpPr txBox="1">
            <a:spLocks noGrp="1"/>
          </p:cNvSpPr>
          <p:nvPr>
            <p:ph type="body" idx="3"/>
          </p:nvPr>
        </p:nvSpPr>
        <p:spPr>
          <a:xfrm>
            <a:off x="723901" y="2686471"/>
            <a:ext cx="2531804" cy="39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 b="1">
                <a:solidFill>
                  <a:schemeClr val="bg1"/>
                </a:solidFill>
                <a:latin typeface="Sora SemiBold" pitchFamily="2" charset="0"/>
                <a:ea typeface="Sora SemiBold" pitchFamily="2" charset="0"/>
                <a:cs typeface="Sora SemiBold" pitchFamily="2" charset="0"/>
                <a:sym typeface="Bebas Neue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52" name="Google Shape;52;p21"/>
          <p:cNvSpPr txBox="1">
            <a:spLocks noGrp="1"/>
          </p:cNvSpPr>
          <p:nvPr>
            <p:ph type="body" idx="4"/>
          </p:nvPr>
        </p:nvSpPr>
        <p:spPr>
          <a:xfrm>
            <a:off x="3306098" y="2684793"/>
            <a:ext cx="2531804" cy="39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 b="1">
                <a:solidFill>
                  <a:schemeClr val="bg1"/>
                </a:solidFill>
                <a:latin typeface="Sora SemiBold" pitchFamily="2" charset="0"/>
                <a:ea typeface="Sora SemiBold" pitchFamily="2" charset="0"/>
                <a:cs typeface="Sora SemiBold" pitchFamily="2" charset="0"/>
                <a:sym typeface="Bebas Neue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53" name="Google Shape;53;p21"/>
          <p:cNvSpPr txBox="1">
            <a:spLocks noGrp="1"/>
          </p:cNvSpPr>
          <p:nvPr>
            <p:ph type="body" idx="5"/>
          </p:nvPr>
        </p:nvSpPr>
        <p:spPr>
          <a:xfrm>
            <a:off x="5888296" y="3078953"/>
            <a:ext cx="2531804" cy="839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400">
                <a:solidFill>
                  <a:schemeClr val="tx1"/>
                </a:solidFill>
                <a:latin typeface="Lato" panose="020F0502020204030203" pitchFamily="34" charset="0"/>
              </a:defRPr>
            </a:lvl1pPr>
            <a:lvl2pPr marL="914400" lvl="1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54" name="Google Shape;54;p21"/>
          <p:cNvSpPr txBox="1">
            <a:spLocks noGrp="1"/>
          </p:cNvSpPr>
          <p:nvPr>
            <p:ph type="body" idx="6"/>
          </p:nvPr>
        </p:nvSpPr>
        <p:spPr>
          <a:xfrm>
            <a:off x="5888297" y="2680643"/>
            <a:ext cx="2531804" cy="39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 b="1">
                <a:solidFill>
                  <a:schemeClr val="bg1"/>
                </a:solidFill>
                <a:latin typeface="Sora SemiBold" pitchFamily="2" charset="0"/>
                <a:ea typeface="Sora SemiBold" pitchFamily="2" charset="0"/>
                <a:cs typeface="Sora SemiBold" pitchFamily="2" charset="0"/>
                <a:sym typeface="Bebas Neue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48;p21">
            <a:extLst>
              <a:ext uri="{FF2B5EF4-FFF2-40B4-BE49-F238E27FC236}">
                <a16:creationId xmlns:a16="http://schemas.microsoft.com/office/drawing/2014/main" id="{610FF660-843B-830C-355D-5F88BC8AC7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3900" y="552450"/>
            <a:ext cx="7696200" cy="513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2"/>
                </a:solidFill>
                <a:latin typeface="Sora SemiBold" pitchFamily="2" charset="0"/>
                <a:cs typeface="Sora SemiBold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168744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96941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15982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E9445-3F38-4F22-BC73-F530689E5329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01D2A-D2BE-40E7-9363-4365EDC0A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430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DE8A828-225D-A17D-2193-919821C30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552451"/>
            <a:ext cx="7696200" cy="560732"/>
          </a:xfrm>
          <a:prstGeom prst="rect">
            <a:avLst/>
          </a:prstGeom>
        </p:spPr>
        <p:txBody>
          <a:bodyPr vert="horz" lIns="36000" tIns="36000" rIns="36000" bIns="36000" rtlCol="0" anchor="t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F21E021-4DD6-BC25-96F6-228BE58766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3900" y="1451429"/>
            <a:ext cx="7696200" cy="3139621"/>
          </a:xfrm>
          <a:prstGeom prst="rect">
            <a:avLst/>
          </a:prstGeom>
        </p:spPr>
        <p:txBody>
          <a:bodyPr vert="horz" lIns="36000" tIns="36000" rIns="36000" bIns="36000" rtlCol="0" anchor="t">
            <a:no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7" r:id="rId3"/>
    <p:sldLayoutId id="2147483659" r:id="rId4"/>
    <p:sldLayoutId id="2147483656" r:id="rId5"/>
    <p:sldLayoutId id="2147483661" r:id="rId6"/>
    <p:sldLayoutId id="2147483667" r:id="rId7"/>
    <p:sldLayoutId id="2147483655" r:id="rId8"/>
    <p:sldLayoutId id="2147483663" r:id="rId9"/>
    <p:sldLayoutId id="2147483668" r:id="rId10"/>
    <p:sldLayoutId id="2147483669" r:id="rId11"/>
    <p:sldLayoutId id="2147483671" r:id="rId12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500" b="1" i="0" u="none" strike="noStrike" cap="none">
          <a:solidFill>
            <a:schemeClr val="bg2"/>
          </a:solidFill>
          <a:latin typeface="Sora SemiBold" panose="020B0604020202020204" charset="0"/>
          <a:ea typeface="Sora SemiBold" panose="020B0604020202020204" charset="0"/>
          <a:cs typeface="Sora SemiBold" panose="020B060402020202020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0" marR="0" lvl="0" indent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chemeClr val="bg2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8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5.png"/><Relationship Id="rId5" Type="http://schemas.openxmlformats.org/officeDocument/2006/relationships/image" Target="../media/image2.png"/><Relationship Id="rId15" Type="http://schemas.openxmlformats.org/officeDocument/2006/relationships/image" Target="../media/image7.gif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4.png"/><Relationship Id="rId14" Type="http://schemas.openxmlformats.org/officeDocument/2006/relationships/image" Target="../media/image1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0.jpg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9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2.png"/><Relationship Id="rId4" Type="http://schemas.openxmlformats.org/officeDocument/2006/relationships/image" Target="../media/image2.svg"/><Relationship Id="rId9" Type="http://schemas.openxmlformats.org/officeDocument/2006/relationships/image" Target="../media/image20.jp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svg"/><Relationship Id="rId5" Type="http://schemas.openxmlformats.org/officeDocument/2006/relationships/image" Target="../media/image21.png"/><Relationship Id="rId4" Type="http://schemas.openxmlformats.org/officeDocument/2006/relationships/image" Target="../media/image2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svg"/><Relationship Id="rId5" Type="http://schemas.openxmlformats.org/officeDocument/2006/relationships/image" Target="../media/image21.png"/><Relationship Id="rId4" Type="http://schemas.openxmlformats.org/officeDocument/2006/relationships/image" Target="../media/image2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svg"/><Relationship Id="rId5" Type="http://schemas.openxmlformats.org/officeDocument/2006/relationships/image" Target="../media/image21.png"/><Relationship Id="rId4" Type="http://schemas.openxmlformats.org/officeDocument/2006/relationships/image" Target="../media/image2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svg"/><Relationship Id="rId5" Type="http://schemas.openxmlformats.org/officeDocument/2006/relationships/image" Target="../media/image21.png"/><Relationship Id="rId4" Type="http://schemas.openxmlformats.org/officeDocument/2006/relationships/image" Target="../media/image2.svg"/><Relationship Id="rId9" Type="http://schemas.openxmlformats.org/officeDocument/2006/relationships/image" Target="../media/image22.jpe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svg"/><Relationship Id="rId11" Type="http://schemas.openxmlformats.org/officeDocument/2006/relationships/image" Target="../media/image24.jpeg"/><Relationship Id="rId5" Type="http://schemas.openxmlformats.org/officeDocument/2006/relationships/image" Target="../media/image21.png"/><Relationship Id="rId10" Type="http://schemas.openxmlformats.org/officeDocument/2006/relationships/image" Target="../media/image23.jpeg"/><Relationship Id="rId4" Type="http://schemas.openxmlformats.org/officeDocument/2006/relationships/image" Target="../media/image2.svg"/><Relationship Id="rId9" Type="http://schemas.openxmlformats.org/officeDocument/2006/relationships/image" Target="../media/image22.jpe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svg"/><Relationship Id="rId11" Type="http://schemas.openxmlformats.org/officeDocument/2006/relationships/image" Target="../media/image24.jpeg"/><Relationship Id="rId5" Type="http://schemas.openxmlformats.org/officeDocument/2006/relationships/image" Target="../media/image21.png"/><Relationship Id="rId10" Type="http://schemas.openxmlformats.org/officeDocument/2006/relationships/image" Target="../media/image23.jpeg"/><Relationship Id="rId4" Type="http://schemas.openxmlformats.org/officeDocument/2006/relationships/image" Target="../media/image2.svg"/><Relationship Id="rId9" Type="http://schemas.openxmlformats.org/officeDocument/2006/relationships/image" Target="../media/image22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34.jpeg"/><Relationship Id="rId18" Type="http://schemas.openxmlformats.org/officeDocument/2006/relationships/image" Target="../media/image22.jpeg"/><Relationship Id="rId3" Type="http://schemas.openxmlformats.org/officeDocument/2006/relationships/image" Target="../media/image24.jpeg"/><Relationship Id="rId7" Type="http://schemas.openxmlformats.org/officeDocument/2006/relationships/image" Target="../media/image21.png"/><Relationship Id="rId12" Type="http://schemas.openxmlformats.org/officeDocument/2006/relationships/image" Target="../media/image33.jpg"/><Relationship Id="rId17" Type="http://schemas.openxmlformats.org/officeDocument/2006/relationships/image" Target="../media/image38.jpe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37.jpe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.svg"/><Relationship Id="rId11" Type="http://schemas.openxmlformats.org/officeDocument/2006/relationships/image" Target="../media/image32.png"/><Relationship Id="rId5" Type="http://schemas.openxmlformats.org/officeDocument/2006/relationships/image" Target="../media/image1.png"/><Relationship Id="rId15" Type="http://schemas.openxmlformats.org/officeDocument/2006/relationships/image" Target="../media/image36.png"/><Relationship Id="rId10" Type="http://schemas.openxmlformats.org/officeDocument/2006/relationships/image" Target="../media/image6.svg"/><Relationship Id="rId19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.png"/><Relationship Id="rId14" Type="http://schemas.openxmlformats.org/officeDocument/2006/relationships/image" Target="../media/image35.jpe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jpeg"/><Relationship Id="rId13" Type="http://schemas.openxmlformats.org/officeDocument/2006/relationships/image" Target="../media/image21.png"/><Relationship Id="rId18" Type="http://schemas.openxmlformats.org/officeDocument/2006/relationships/image" Target="../media/image38.jpeg"/><Relationship Id="rId3" Type="http://schemas.openxmlformats.org/officeDocument/2006/relationships/image" Target="../media/image33.jpg"/><Relationship Id="rId7" Type="http://schemas.openxmlformats.org/officeDocument/2006/relationships/image" Target="../media/image40.jpeg"/><Relationship Id="rId12" Type="http://schemas.openxmlformats.org/officeDocument/2006/relationships/image" Target="../media/image2.svg"/><Relationship Id="rId17" Type="http://schemas.openxmlformats.org/officeDocument/2006/relationships/image" Target="../media/image37.jpeg"/><Relationship Id="rId2" Type="http://schemas.openxmlformats.org/officeDocument/2006/relationships/image" Target="../media/image32.png"/><Relationship Id="rId16" Type="http://schemas.openxmlformats.org/officeDocument/2006/relationships/image" Target="../media/image6.sv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9.png"/><Relationship Id="rId11" Type="http://schemas.openxmlformats.org/officeDocument/2006/relationships/image" Target="../media/image1.png"/><Relationship Id="rId5" Type="http://schemas.openxmlformats.org/officeDocument/2006/relationships/image" Target="../media/image35.jpeg"/><Relationship Id="rId15" Type="http://schemas.openxmlformats.org/officeDocument/2006/relationships/image" Target="../media/image3.png"/><Relationship Id="rId10" Type="http://schemas.openxmlformats.org/officeDocument/2006/relationships/image" Target="../media/image24.jpeg"/><Relationship Id="rId19" Type="http://schemas.openxmlformats.org/officeDocument/2006/relationships/image" Target="../media/image25.png"/><Relationship Id="rId4" Type="http://schemas.openxmlformats.org/officeDocument/2006/relationships/image" Target="../media/image34.jpeg"/><Relationship Id="rId9" Type="http://schemas.openxmlformats.org/officeDocument/2006/relationships/image" Target="../media/image42.png"/><Relationship Id="rId14" Type="http://schemas.openxmlformats.org/officeDocument/2006/relationships/image" Target="../media/image19.sv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34.jpeg"/><Relationship Id="rId18" Type="http://schemas.openxmlformats.org/officeDocument/2006/relationships/image" Target="../media/image22.jpeg"/><Relationship Id="rId3" Type="http://schemas.openxmlformats.org/officeDocument/2006/relationships/image" Target="../media/image24.jpeg"/><Relationship Id="rId7" Type="http://schemas.openxmlformats.org/officeDocument/2006/relationships/image" Target="../media/image21.png"/><Relationship Id="rId12" Type="http://schemas.openxmlformats.org/officeDocument/2006/relationships/image" Target="../media/image33.jpg"/><Relationship Id="rId17" Type="http://schemas.openxmlformats.org/officeDocument/2006/relationships/image" Target="../media/image38.jpe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37.jpe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.svg"/><Relationship Id="rId11" Type="http://schemas.openxmlformats.org/officeDocument/2006/relationships/image" Target="../media/image32.png"/><Relationship Id="rId5" Type="http://schemas.openxmlformats.org/officeDocument/2006/relationships/image" Target="../media/image1.png"/><Relationship Id="rId15" Type="http://schemas.openxmlformats.org/officeDocument/2006/relationships/image" Target="../media/image36.png"/><Relationship Id="rId10" Type="http://schemas.openxmlformats.org/officeDocument/2006/relationships/image" Target="../media/image6.svg"/><Relationship Id="rId19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.png"/><Relationship Id="rId14" Type="http://schemas.openxmlformats.org/officeDocument/2006/relationships/image" Target="../media/image35.jpe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37.jpeg"/><Relationship Id="rId18" Type="http://schemas.openxmlformats.org/officeDocument/2006/relationships/image" Target="../media/image36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image" Target="../media/image35.jpeg"/><Relationship Id="rId17" Type="http://schemas.openxmlformats.org/officeDocument/2006/relationships/image" Target="../media/image45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44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svg"/><Relationship Id="rId11" Type="http://schemas.openxmlformats.org/officeDocument/2006/relationships/image" Target="../media/image34.jpeg"/><Relationship Id="rId5" Type="http://schemas.openxmlformats.org/officeDocument/2006/relationships/image" Target="../media/image21.png"/><Relationship Id="rId15" Type="http://schemas.openxmlformats.org/officeDocument/2006/relationships/image" Target="../media/image43.png"/><Relationship Id="rId10" Type="http://schemas.openxmlformats.org/officeDocument/2006/relationships/image" Target="../media/image33.jpg"/><Relationship Id="rId4" Type="http://schemas.openxmlformats.org/officeDocument/2006/relationships/image" Target="../media/image2.svg"/><Relationship Id="rId9" Type="http://schemas.openxmlformats.org/officeDocument/2006/relationships/image" Target="../media/image32.png"/><Relationship Id="rId14" Type="http://schemas.openxmlformats.org/officeDocument/2006/relationships/image" Target="../media/image38.jpe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8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5.png"/><Relationship Id="rId5" Type="http://schemas.openxmlformats.org/officeDocument/2006/relationships/image" Target="../media/image2.png"/><Relationship Id="rId15" Type="http://schemas.openxmlformats.org/officeDocument/2006/relationships/image" Target="../media/image7.gif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4.png"/><Relationship Id="rId14" Type="http://schemas.openxmlformats.org/officeDocument/2006/relationships/image" Target="../media/image12.sv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71439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23BA069-B8CB-3BA1-308F-BCADDAB609D3}"/>
              </a:ext>
            </a:extLst>
          </p:cNvPr>
          <p:cNvGrpSpPr/>
          <p:nvPr/>
        </p:nvGrpSpPr>
        <p:grpSpPr>
          <a:xfrm>
            <a:off x="-258098" y="4115513"/>
            <a:ext cx="3691861" cy="1093386"/>
            <a:chOff x="-258098" y="4115513"/>
            <a:chExt cx="3691861" cy="1093386"/>
          </a:xfrm>
        </p:grpSpPr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CA02A2D1-2990-1FBE-B22E-F0B7A89023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0" y="4115513"/>
              <a:ext cx="3433763" cy="1027987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DC6DE0FF-9381-0776-6E49-EA9888BD337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258098" y="4267200"/>
              <a:ext cx="2924175" cy="876300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1B0FB0BC-0528-DD8D-B5C0-EC95D420A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-56997" y="4437574"/>
              <a:ext cx="2521974" cy="771325"/>
            </a:xfrm>
            <a:prstGeom prst="rect">
              <a:avLst/>
            </a:prstGeom>
          </p:spPr>
        </p:pic>
      </p:grpSp>
      <p:sp>
        <p:nvSpPr>
          <p:cNvPr id="77" name="Google Shape;77;p1"/>
          <p:cNvSpPr txBox="1">
            <a:spLocks noGrp="1"/>
          </p:cNvSpPr>
          <p:nvPr>
            <p:ph type="ctrTitle"/>
          </p:nvPr>
        </p:nvSpPr>
        <p:spPr>
          <a:xfrm>
            <a:off x="3988210" y="1292173"/>
            <a:ext cx="4175022" cy="2114551"/>
          </a:xfr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ro-RO" dirty="0" smtClean="0"/>
              <a:t>Air Quality</a:t>
            </a:r>
            <a:br>
              <a:rPr lang="ro-RO" dirty="0" smtClean="0"/>
            </a:br>
            <a:r>
              <a:rPr lang="ro-RO" dirty="0" smtClean="0"/>
              <a:t>Analyser</a:t>
            </a:r>
            <a:endParaRPr lang="en-US" noProof="0" dirty="0"/>
          </a:p>
        </p:txBody>
      </p:sp>
      <p:sp>
        <p:nvSpPr>
          <p:cNvPr id="78" name="Google Shape;78;p1"/>
          <p:cNvSpPr txBox="1">
            <a:spLocks noGrp="1"/>
          </p:cNvSpPr>
          <p:nvPr>
            <p:ph type="subTitle" idx="1"/>
          </p:nvPr>
        </p:nvSpPr>
        <p:spPr>
          <a:xfrm>
            <a:off x="3988210" y="3476574"/>
            <a:ext cx="4175022" cy="1476426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dirty="0"/>
              <a:t>INSTRUMENTATIE DE MASURA A PARAMETRILOR DE MEDIU </a:t>
            </a:r>
            <a:endParaRPr lang="ro-RO" noProof="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A81A90B-87CB-B761-1769-566DFE746EEF}"/>
              </a:ext>
            </a:extLst>
          </p:cNvPr>
          <p:cNvGrpSpPr/>
          <p:nvPr/>
        </p:nvGrpSpPr>
        <p:grpSpPr>
          <a:xfrm>
            <a:off x="8405486" y="-381319"/>
            <a:ext cx="840423" cy="2851520"/>
            <a:chOff x="8405486" y="-381319"/>
            <a:chExt cx="840423" cy="2851520"/>
          </a:xfrm>
        </p:grpSpPr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B4E0322B-7053-EC28-BC85-4CE9377F0B8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405486" y="0"/>
              <a:ext cx="738514" cy="2470201"/>
            </a:xfrm>
            <a:prstGeom prst="rect">
              <a:avLst/>
            </a:prstGeom>
          </p:spPr>
        </p:pic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2E8A36F8-E340-FFFA-7663-3C449987E6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695236" y="1"/>
              <a:ext cx="448764" cy="1747400"/>
            </a:xfrm>
            <a:prstGeom prst="rect">
              <a:avLst/>
            </a:prstGeom>
          </p:spPr>
        </p:pic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2DA1FD6B-F889-ACF2-9AFE-2D4926EE28B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=""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8853251" y="-381319"/>
              <a:ext cx="392658" cy="1283860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68F21C9A-2C02-1566-A7B2-CBCE5FCFDEB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6861" y="105604"/>
            <a:ext cx="1362859" cy="181994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FF0460C-AE3E-8729-648B-34872485F26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963578" y="207201"/>
            <a:ext cx="1630773" cy="16167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2D2F01A-1F3A-105B-3D80-DD2C135012CD}"/>
              </a:ext>
            </a:extLst>
          </p:cNvPr>
          <p:cNvGrpSpPr/>
          <p:nvPr/>
        </p:nvGrpSpPr>
        <p:grpSpPr>
          <a:xfrm rot="5551155" flipH="1">
            <a:off x="7563784" y="3693366"/>
            <a:ext cx="834234" cy="2470201"/>
            <a:chOff x="-95720" y="0"/>
            <a:chExt cx="834234" cy="2470201"/>
          </a:xfrm>
        </p:grpSpPr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8D463B9E-B508-A651-2E77-AB3138AFFD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0" y="0"/>
              <a:ext cx="738514" cy="2470201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714FED35-974A-CC23-AC17-8312F4B59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>
              <a:off x="0" y="1"/>
              <a:ext cx="448764" cy="1747400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804E3FC7-A82C-8A33-2AF1-F82ABB90435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>
              <a:off x="-95720" y="0"/>
              <a:ext cx="392658" cy="1283860"/>
            </a:xfrm>
            <a:prstGeom prst="rect">
              <a:avLst/>
            </a:prstGeom>
          </p:spPr>
        </p:pic>
      </p:grpSp>
      <p:sp>
        <p:nvSpPr>
          <p:cNvPr id="85" name="Google Shape;85;p2"/>
          <p:cNvSpPr txBox="1">
            <a:spLocks noGrp="1"/>
          </p:cNvSpPr>
          <p:nvPr>
            <p:ph type="title"/>
          </p:nvPr>
        </p:nvSpPr>
        <p:spPr>
          <a:xfrm>
            <a:off x="723900" y="552450"/>
            <a:ext cx="7696200" cy="715566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err="1"/>
              <a:t>Prezentarea</a:t>
            </a:r>
            <a:r>
              <a:rPr lang="en-US" sz="3600" dirty="0"/>
              <a:t> </a:t>
            </a:r>
            <a:r>
              <a:rPr lang="en-US" sz="3600" dirty="0" err="1"/>
              <a:t>Proiectului</a:t>
            </a:r>
            <a:endParaRPr lang="en-US" sz="1100" dirty="0">
              <a:solidFill>
                <a:schemeClr val="tx1"/>
              </a:solidFill>
              <a:latin typeface="Sora" pitchFamily="2" charset="0"/>
              <a:ea typeface="Anaheim"/>
              <a:cs typeface="Sora" pitchFamily="2" charset="0"/>
              <a:sym typeface="Anaheim"/>
            </a:endParaRPr>
          </a:p>
        </p:txBody>
      </p:sp>
      <p:graphicFrame>
        <p:nvGraphicFramePr>
          <p:cNvPr id="2" name="Google Shape;134;p28">
            <a:extLst>
              <a:ext uri="{FF2B5EF4-FFF2-40B4-BE49-F238E27FC236}">
                <a16:creationId xmlns:a16="http://schemas.microsoft.com/office/drawing/2014/main" id="{53ADB5D5-4901-EF68-BE13-862FEBEE8E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360723"/>
              </p:ext>
            </p:extLst>
          </p:nvPr>
        </p:nvGraphicFramePr>
        <p:xfrm>
          <a:off x="723900" y="1988622"/>
          <a:ext cx="7704000" cy="21691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31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52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-RO" sz="900" b="1" u="sng">
                          <a:solidFill>
                            <a:schemeClr val="bg1"/>
                          </a:solidFill>
                          <a:latin typeface="Sora" pitchFamily="2" charset="0"/>
                          <a:ea typeface="Anaheim"/>
                          <a:cs typeface="Sora" pitchFamily="2" charset="0"/>
                          <a:sym typeface="Anaheim"/>
                        </a:rPr>
                        <a:t>Nume</a:t>
                      </a:r>
                      <a:endParaRPr sz="900" b="1" u="sng" dirty="0">
                        <a:solidFill>
                          <a:schemeClr val="bg1"/>
                        </a:solidFill>
                        <a:latin typeface="Sora" pitchFamily="2" charset="0"/>
                        <a:ea typeface="Anaheim"/>
                        <a:cs typeface="Sora" pitchFamily="2" charset="0"/>
                        <a:sym typeface="Anaheim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ro-RO" sz="900" dirty="0" smtClean="0">
                          <a:solidFill>
                            <a:schemeClr val="dk1"/>
                          </a:solidFill>
                          <a:latin typeface="Sora" pitchFamily="2" charset="0"/>
                          <a:ea typeface="Anaheim"/>
                          <a:cs typeface="Sora" pitchFamily="2" charset="0"/>
                          <a:sym typeface="Anaheim"/>
                        </a:rPr>
                        <a:t>Air Quality Analyser</a:t>
                      </a:r>
                      <a:endParaRPr sz="900" dirty="0">
                        <a:solidFill>
                          <a:schemeClr val="dk1"/>
                        </a:solidFill>
                        <a:latin typeface="Sora" pitchFamily="2" charset="0"/>
                        <a:ea typeface="Anaheim"/>
                        <a:cs typeface="Sora" pitchFamily="2" charset="0"/>
                        <a:sym typeface="Anaheim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sng" dirty="0">
                          <a:solidFill>
                            <a:schemeClr val="bg1"/>
                          </a:solidFill>
                          <a:latin typeface="Sora" pitchFamily="2" charset="0"/>
                          <a:ea typeface="Anaheim"/>
                          <a:cs typeface="Sora" pitchFamily="2" charset="0"/>
                          <a:sym typeface="Anaheim"/>
                        </a:rPr>
                        <a:t>Hardware</a:t>
                      </a:r>
                      <a:endParaRPr sz="900" b="1" u="sng" dirty="0">
                        <a:solidFill>
                          <a:schemeClr val="bg1"/>
                        </a:solidFill>
                        <a:latin typeface="Sora" pitchFamily="2" charset="0"/>
                        <a:ea typeface="Anaheim"/>
                        <a:cs typeface="Sora" pitchFamily="2" charset="0"/>
                        <a:sym typeface="Anaheim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900" dirty="0">
                          <a:solidFill>
                            <a:schemeClr val="dk1"/>
                          </a:solidFill>
                          <a:latin typeface="Sora" pitchFamily="2" charset="0"/>
                          <a:ea typeface="Anaheim"/>
                          <a:cs typeface="Sora" pitchFamily="2" charset="0"/>
                          <a:sym typeface="Anaheim"/>
                        </a:rPr>
                        <a:t>Raspberry Pi 4</a:t>
                      </a:r>
                      <a:r>
                        <a:rPr lang="en-US" sz="900" dirty="0" smtClean="0">
                          <a:solidFill>
                            <a:schemeClr val="dk1"/>
                          </a:solidFill>
                          <a:latin typeface="Sora" pitchFamily="2" charset="0"/>
                          <a:ea typeface="Anaheim"/>
                          <a:cs typeface="Sora" pitchFamily="2" charset="0"/>
                          <a:sym typeface="Anaheim"/>
                        </a:rPr>
                        <a:t>,</a:t>
                      </a:r>
                      <a:r>
                        <a:rPr lang="ro-RO" sz="900" dirty="0" smtClean="0">
                          <a:solidFill>
                            <a:schemeClr val="dk1"/>
                          </a:solidFill>
                          <a:latin typeface="Sora" pitchFamily="2" charset="0"/>
                          <a:ea typeface="Anaheim"/>
                          <a:cs typeface="Sora" pitchFamily="2" charset="0"/>
                          <a:sym typeface="Anaheim"/>
                        </a:rPr>
                        <a:t> DAQmx 6009,</a:t>
                      </a:r>
                      <a:r>
                        <a:rPr lang="en-US" sz="900" dirty="0" smtClean="0">
                          <a:solidFill>
                            <a:schemeClr val="dk1"/>
                          </a:solidFill>
                          <a:latin typeface="Sora" pitchFamily="2" charset="0"/>
                          <a:ea typeface="Anaheim"/>
                          <a:cs typeface="Sora" pitchFamily="2" charset="0"/>
                          <a:sym typeface="Anaheim"/>
                        </a:rPr>
                        <a:t> </a:t>
                      </a:r>
                      <a:r>
                        <a:rPr lang="en-US" sz="900" dirty="0">
                          <a:solidFill>
                            <a:schemeClr val="dk1"/>
                          </a:solidFill>
                          <a:latin typeface="Sora" pitchFamily="2" charset="0"/>
                          <a:ea typeface="Anaheim"/>
                          <a:cs typeface="Sora" pitchFamily="2" charset="0"/>
                          <a:sym typeface="Anaheim"/>
                        </a:rPr>
                        <a:t>ESP32, Sensors.</a:t>
                      </a:r>
                      <a:endParaRPr sz="900" dirty="0">
                        <a:solidFill>
                          <a:schemeClr val="dk1"/>
                        </a:solidFill>
                        <a:latin typeface="Sora" pitchFamily="2" charset="0"/>
                        <a:ea typeface="Anaheim"/>
                        <a:cs typeface="Sora" pitchFamily="2" charset="0"/>
                        <a:sym typeface="Anaheim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sng" dirty="0">
                          <a:solidFill>
                            <a:schemeClr val="bg1"/>
                          </a:solidFill>
                          <a:latin typeface="Sora" pitchFamily="2" charset="0"/>
                          <a:ea typeface="Anaheim"/>
                          <a:cs typeface="Sora" pitchFamily="2" charset="0"/>
                          <a:sym typeface="Anaheim"/>
                        </a:rPr>
                        <a:t>Software</a:t>
                      </a:r>
                      <a:endParaRPr sz="900" b="1" u="sng" dirty="0">
                        <a:solidFill>
                          <a:schemeClr val="bg1"/>
                        </a:solidFill>
                        <a:latin typeface="Sora" pitchFamily="2" charset="0"/>
                        <a:ea typeface="Anaheim"/>
                        <a:cs typeface="Sora" pitchFamily="2" charset="0"/>
                        <a:sym typeface="Anaheim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900" dirty="0">
                          <a:solidFill>
                            <a:schemeClr val="dk1"/>
                          </a:solidFill>
                          <a:latin typeface="Sora" pitchFamily="2" charset="0"/>
                          <a:ea typeface="Anaheim"/>
                          <a:cs typeface="Sora" pitchFamily="2" charset="0"/>
                          <a:sym typeface="Anaheim"/>
                        </a:rPr>
                        <a:t>Home </a:t>
                      </a:r>
                      <a:r>
                        <a:rPr lang="en-US" sz="900" dirty="0" smtClean="0">
                          <a:solidFill>
                            <a:schemeClr val="dk1"/>
                          </a:solidFill>
                          <a:latin typeface="Sora" pitchFamily="2" charset="0"/>
                          <a:ea typeface="Anaheim"/>
                          <a:cs typeface="Sora" pitchFamily="2" charset="0"/>
                          <a:sym typeface="Anaheim"/>
                        </a:rPr>
                        <a:t>As</a:t>
                      </a:r>
                      <a:r>
                        <a:rPr lang="ro-RO" sz="900" dirty="0" smtClean="0">
                          <a:solidFill>
                            <a:schemeClr val="dk1"/>
                          </a:solidFill>
                          <a:latin typeface="Sora" pitchFamily="2" charset="0"/>
                          <a:ea typeface="Anaheim"/>
                          <a:cs typeface="Sora" pitchFamily="2" charset="0"/>
                          <a:sym typeface="Anaheim"/>
                        </a:rPr>
                        <a:t>sistant,</a:t>
                      </a:r>
                      <a:r>
                        <a:rPr lang="ro-RO" sz="900" baseline="0" dirty="0" smtClean="0">
                          <a:solidFill>
                            <a:schemeClr val="dk1"/>
                          </a:solidFill>
                          <a:latin typeface="Sora" pitchFamily="2" charset="0"/>
                          <a:ea typeface="Anaheim"/>
                          <a:cs typeface="Sora" pitchFamily="2" charset="0"/>
                          <a:sym typeface="Anaheim"/>
                        </a:rPr>
                        <a:t> Altium, Labview</a:t>
                      </a:r>
                      <a:r>
                        <a:rPr lang="en-US" sz="900" dirty="0" smtClean="0">
                          <a:solidFill>
                            <a:schemeClr val="dk1"/>
                          </a:solidFill>
                          <a:latin typeface="Sora" pitchFamily="2" charset="0"/>
                          <a:ea typeface="Anaheim"/>
                          <a:cs typeface="Sora" pitchFamily="2" charset="0"/>
                          <a:sym typeface="Anaheim"/>
                        </a:rPr>
                        <a:t>, </a:t>
                      </a:r>
                      <a:r>
                        <a:rPr lang="ro-RO" sz="900" dirty="0" smtClean="0">
                          <a:solidFill>
                            <a:schemeClr val="dk1"/>
                          </a:solidFill>
                          <a:latin typeface="Sora" pitchFamily="2" charset="0"/>
                          <a:ea typeface="Anaheim"/>
                          <a:cs typeface="Sora" pitchFamily="2" charset="0"/>
                          <a:sym typeface="Anaheim"/>
                        </a:rPr>
                        <a:t>Docker,</a:t>
                      </a:r>
                      <a:r>
                        <a:rPr lang="ro-RO" sz="900" baseline="0" dirty="0" smtClean="0">
                          <a:solidFill>
                            <a:schemeClr val="dk1"/>
                          </a:solidFill>
                          <a:latin typeface="Sora" pitchFamily="2" charset="0"/>
                          <a:ea typeface="Anaheim"/>
                          <a:cs typeface="Sora" pitchFamily="2" charset="0"/>
                          <a:sym typeface="Anaheim"/>
                        </a:rPr>
                        <a:t> Matlab.</a:t>
                      </a:r>
                      <a:endParaRPr sz="900" dirty="0">
                        <a:solidFill>
                          <a:schemeClr val="dk1"/>
                        </a:solidFill>
                        <a:latin typeface="Sora" pitchFamily="2" charset="0"/>
                        <a:ea typeface="Anaheim"/>
                        <a:cs typeface="Sora" pitchFamily="2" charset="0"/>
                        <a:sym typeface="Anaheim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sng" dirty="0" err="1">
                          <a:solidFill>
                            <a:schemeClr val="bg1"/>
                          </a:solidFill>
                          <a:latin typeface="Sora" pitchFamily="2" charset="0"/>
                          <a:ea typeface="Anaheim"/>
                          <a:cs typeface="Sora" pitchFamily="2" charset="0"/>
                          <a:sym typeface="Anaheim"/>
                        </a:rPr>
                        <a:t>Disponibilitate</a:t>
                      </a:r>
                      <a:endParaRPr sz="900" b="1" u="sng" dirty="0">
                        <a:solidFill>
                          <a:schemeClr val="bg1"/>
                        </a:solidFill>
                        <a:latin typeface="Sora" pitchFamily="2" charset="0"/>
                        <a:ea typeface="Anaheim"/>
                        <a:cs typeface="Sora" pitchFamily="2" charset="0"/>
                        <a:sym typeface="Anaheim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900" dirty="0" err="1">
                          <a:solidFill>
                            <a:schemeClr val="dk1"/>
                          </a:solidFill>
                          <a:latin typeface="Sora" pitchFamily="2" charset="0"/>
                          <a:ea typeface="Anaheim"/>
                          <a:cs typeface="Sora" pitchFamily="2" charset="0"/>
                          <a:sym typeface="Anaheim"/>
                        </a:rPr>
                        <a:t>Accesare</a:t>
                      </a:r>
                      <a:r>
                        <a:rPr lang="en-US" sz="900" dirty="0">
                          <a:solidFill>
                            <a:schemeClr val="dk1"/>
                          </a:solidFill>
                          <a:latin typeface="Sora" pitchFamily="2" charset="0"/>
                          <a:ea typeface="Anaheim"/>
                          <a:cs typeface="Sora" pitchFamily="2" charset="0"/>
                          <a:sym typeface="Anaheim"/>
                        </a:rPr>
                        <a:t> </a:t>
                      </a:r>
                      <a:r>
                        <a:rPr lang="en-US" sz="900" dirty="0" err="1">
                          <a:solidFill>
                            <a:schemeClr val="dk1"/>
                          </a:solidFill>
                          <a:latin typeface="Sora" pitchFamily="2" charset="0"/>
                          <a:ea typeface="Anaheim"/>
                          <a:cs typeface="Sora" pitchFamily="2" charset="0"/>
                          <a:sym typeface="Anaheim"/>
                        </a:rPr>
                        <a:t>prin</a:t>
                      </a:r>
                      <a:r>
                        <a:rPr lang="en-US" sz="900" dirty="0">
                          <a:solidFill>
                            <a:schemeClr val="dk1"/>
                          </a:solidFill>
                          <a:latin typeface="Sora" pitchFamily="2" charset="0"/>
                          <a:ea typeface="Anaheim"/>
                          <a:cs typeface="Sora" pitchFamily="2" charset="0"/>
                          <a:sym typeface="Anaheim"/>
                        </a:rPr>
                        <a:t> </a:t>
                      </a:r>
                      <a:r>
                        <a:rPr lang="en-US" sz="900" dirty="0" err="1">
                          <a:solidFill>
                            <a:schemeClr val="dk1"/>
                          </a:solidFill>
                          <a:latin typeface="Sora" pitchFamily="2" charset="0"/>
                          <a:ea typeface="Anaheim"/>
                          <a:cs typeface="Sora" pitchFamily="2" charset="0"/>
                          <a:sym typeface="Anaheim"/>
                        </a:rPr>
                        <a:t>telefon</a:t>
                      </a:r>
                      <a:r>
                        <a:rPr lang="en-US" sz="900" dirty="0">
                          <a:solidFill>
                            <a:schemeClr val="dk1"/>
                          </a:solidFill>
                          <a:latin typeface="Sora" pitchFamily="2" charset="0"/>
                          <a:ea typeface="Anaheim"/>
                          <a:cs typeface="Sora" pitchFamily="2" charset="0"/>
                          <a:sym typeface="Anaheim"/>
                        </a:rPr>
                        <a:t>. Verificarea </a:t>
                      </a:r>
                      <a:r>
                        <a:rPr lang="en-US" sz="900" dirty="0" smtClean="0">
                          <a:solidFill>
                            <a:schemeClr val="dk1"/>
                          </a:solidFill>
                          <a:latin typeface="Sora" pitchFamily="2" charset="0"/>
                          <a:ea typeface="Anaheim"/>
                          <a:cs typeface="Sora" pitchFamily="2" charset="0"/>
                          <a:sym typeface="Anaheim"/>
                        </a:rPr>
                        <a:t>istoricu</a:t>
                      </a:r>
                      <a:r>
                        <a:rPr lang="ro-RO" sz="900" dirty="0" smtClean="0">
                          <a:solidFill>
                            <a:schemeClr val="dk1"/>
                          </a:solidFill>
                          <a:latin typeface="Sora" pitchFamily="2" charset="0"/>
                          <a:ea typeface="Anaheim"/>
                          <a:cs typeface="Sora" pitchFamily="2" charset="0"/>
                          <a:sym typeface="Anaheim"/>
                        </a:rPr>
                        <a:t>l</a:t>
                      </a:r>
                      <a:r>
                        <a:rPr lang="en-US" sz="900" dirty="0" smtClean="0">
                          <a:solidFill>
                            <a:schemeClr val="dk1"/>
                          </a:solidFill>
                          <a:latin typeface="Sora" pitchFamily="2" charset="0"/>
                          <a:ea typeface="Anaheim"/>
                          <a:cs typeface="Sora" pitchFamily="2" charset="0"/>
                          <a:sym typeface="Anaheim"/>
                        </a:rPr>
                        <a:t> </a:t>
                      </a:r>
                      <a:r>
                        <a:rPr lang="en-US" sz="900" dirty="0">
                          <a:solidFill>
                            <a:schemeClr val="dk1"/>
                          </a:solidFill>
                          <a:latin typeface="Sora" pitchFamily="2" charset="0"/>
                          <a:ea typeface="Anaheim"/>
                          <a:cs typeface="Sora" pitchFamily="2" charset="0"/>
                          <a:sym typeface="Anaheim"/>
                        </a:rPr>
                        <a:t>parametrilor.</a:t>
                      </a:r>
                      <a:endParaRPr sz="900" dirty="0">
                        <a:solidFill>
                          <a:schemeClr val="dk1"/>
                        </a:solidFill>
                        <a:latin typeface="Sora" pitchFamily="2" charset="0"/>
                        <a:ea typeface="Anaheim"/>
                        <a:cs typeface="Sora" pitchFamily="2" charset="0"/>
                        <a:sym typeface="Anaheim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sng" dirty="0" err="1">
                          <a:solidFill>
                            <a:schemeClr val="bg1"/>
                          </a:solidFill>
                          <a:latin typeface="Sora" pitchFamily="2" charset="0"/>
                          <a:ea typeface="Anaheim"/>
                          <a:cs typeface="Sora" pitchFamily="2" charset="0"/>
                          <a:sym typeface="Anaheim"/>
                        </a:rPr>
                        <a:t>Scopul</a:t>
                      </a:r>
                      <a:r>
                        <a:rPr lang="en-US" sz="900" b="1" u="sng" dirty="0">
                          <a:solidFill>
                            <a:schemeClr val="bg1"/>
                          </a:solidFill>
                          <a:latin typeface="Sora" pitchFamily="2" charset="0"/>
                          <a:ea typeface="Anaheim"/>
                          <a:cs typeface="Sora" pitchFamily="2" charset="0"/>
                          <a:sym typeface="Anaheim"/>
                        </a:rPr>
                        <a:t> </a:t>
                      </a:r>
                      <a:r>
                        <a:rPr lang="en-US" sz="900" b="1" u="sng" dirty="0" err="1">
                          <a:solidFill>
                            <a:schemeClr val="bg1"/>
                          </a:solidFill>
                          <a:latin typeface="Sora" pitchFamily="2" charset="0"/>
                          <a:ea typeface="Anaheim"/>
                          <a:cs typeface="Sora" pitchFamily="2" charset="0"/>
                          <a:sym typeface="Anaheim"/>
                        </a:rPr>
                        <a:t>Lucrarii</a:t>
                      </a:r>
                      <a:endParaRPr sz="900" b="1" u="sng" dirty="0">
                        <a:solidFill>
                          <a:schemeClr val="bg1"/>
                        </a:solidFill>
                        <a:latin typeface="Sora" pitchFamily="2" charset="0"/>
                        <a:ea typeface="Anaheim"/>
                        <a:cs typeface="Sora" pitchFamily="2" charset="0"/>
                        <a:sym typeface="Anaheim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 err="1">
                          <a:solidFill>
                            <a:schemeClr val="dk1"/>
                          </a:solidFill>
                          <a:latin typeface="Sora" pitchFamily="2" charset="0"/>
                          <a:ea typeface="Anaheim"/>
                          <a:cs typeface="Sora" pitchFamily="2" charset="0"/>
                          <a:sym typeface="Anaheim"/>
                        </a:rPr>
                        <a:t>Monitorizarea</a:t>
                      </a:r>
                      <a:r>
                        <a:rPr lang="en-US" sz="900" dirty="0">
                          <a:solidFill>
                            <a:schemeClr val="dk1"/>
                          </a:solidFill>
                          <a:latin typeface="Sora" pitchFamily="2" charset="0"/>
                          <a:ea typeface="Anaheim"/>
                          <a:cs typeface="Sora" pitchFamily="2" charset="0"/>
                          <a:sym typeface="Anaheim"/>
                        </a:rPr>
                        <a:t> </a:t>
                      </a:r>
                      <a:r>
                        <a:rPr lang="en-US" sz="900" dirty="0" err="1">
                          <a:solidFill>
                            <a:schemeClr val="dk1"/>
                          </a:solidFill>
                          <a:latin typeface="Sora" pitchFamily="2" charset="0"/>
                          <a:ea typeface="Anaheim"/>
                          <a:cs typeface="Sora" pitchFamily="2" charset="0"/>
                          <a:sym typeface="Anaheim"/>
                        </a:rPr>
                        <a:t>parametrilor</a:t>
                      </a:r>
                      <a:r>
                        <a:rPr lang="en-US" sz="900" dirty="0">
                          <a:solidFill>
                            <a:schemeClr val="dk1"/>
                          </a:solidFill>
                          <a:latin typeface="Sora" pitchFamily="2" charset="0"/>
                          <a:ea typeface="Anaheim"/>
                          <a:cs typeface="Sora" pitchFamily="2" charset="0"/>
                          <a:sym typeface="Anaheim"/>
                        </a:rPr>
                        <a:t> </a:t>
                      </a:r>
                      <a:r>
                        <a:rPr lang="en-US" sz="900" dirty="0" err="1">
                          <a:solidFill>
                            <a:schemeClr val="dk1"/>
                          </a:solidFill>
                          <a:latin typeface="Sora" pitchFamily="2" charset="0"/>
                          <a:ea typeface="Anaheim"/>
                          <a:cs typeface="Sora" pitchFamily="2" charset="0"/>
                          <a:sym typeface="Anaheim"/>
                        </a:rPr>
                        <a:t>diversi</a:t>
                      </a:r>
                      <a:r>
                        <a:rPr lang="en-US" sz="900" dirty="0">
                          <a:solidFill>
                            <a:schemeClr val="dk1"/>
                          </a:solidFill>
                          <a:latin typeface="Sora" pitchFamily="2" charset="0"/>
                          <a:ea typeface="Anaheim"/>
                          <a:cs typeface="Sora" pitchFamily="2" charset="0"/>
                          <a:sym typeface="Anaheim"/>
                        </a:rPr>
                        <a:t>. </a:t>
                      </a:r>
                      <a:r>
                        <a:rPr lang="en-US" sz="900" dirty="0" err="1">
                          <a:solidFill>
                            <a:schemeClr val="dk1"/>
                          </a:solidFill>
                          <a:latin typeface="Sora" pitchFamily="2" charset="0"/>
                          <a:ea typeface="Anaheim"/>
                          <a:cs typeface="Sora" pitchFamily="2" charset="0"/>
                          <a:sym typeface="Anaheim"/>
                        </a:rPr>
                        <a:t>Proceduri</a:t>
                      </a:r>
                      <a:r>
                        <a:rPr lang="en-US" sz="900" dirty="0">
                          <a:solidFill>
                            <a:schemeClr val="dk1"/>
                          </a:solidFill>
                          <a:latin typeface="Sora" pitchFamily="2" charset="0"/>
                          <a:ea typeface="Anaheim"/>
                          <a:cs typeface="Sora" pitchFamily="2" charset="0"/>
                          <a:sym typeface="Anaheim"/>
                        </a:rPr>
                        <a:t> de </a:t>
                      </a:r>
                      <a:r>
                        <a:rPr lang="en-US" sz="900" dirty="0" err="1">
                          <a:solidFill>
                            <a:schemeClr val="dk1"/>
                          </a:solidFill>
                          <a:latin typeface="Sora" pitchFamily="2" charset="0"/>
                          <a:ea typeface="Anaheim"/>
                          <a:cs typeface="Sora" pitchFamily="2" charset="0"/>
                          <a:sym typeface="Anaheim"/>
                        </a:rPr>
                        <a:t>apelare</a:t>
                      </a:r>
                      <a:r>
                        <a:rPr lang="en-US" sz="900" dirty="0">
                          <a:solidFill>
                            <a:schemeClr val="dk1"/>
                          </a:solidFill>
                          <a:latin typeface="Sora" pitchFamily="2" charset="0"/>
                          <a:ea typeface="Anaheim"/>
                          <a:cs typeface="Sora" pitchFamily="2" charset="0"/>
                          <a:sym typeface="Anaheim"/>
                        </a:rPr>
                        <a:t> la </a:t>
                      </a:r>
                      <a:r>
                        <a:rPr lang="en-US" sz="900" dirty="0" err="1">
                          <a:solidFill>
                            <a:schemeClr val="dk1"/>
                          </a:solidFill>
                          <a:latin typeface="Sora" pitchFamily="2" charset="0"/>
                          <a:ea typeface="Anaheim"/>
                          <a:cs typeface="Sora" pitchFamily="2" charset="0"/>
                          <a:sym typeface="Anaheim"/>
                        </a:rPr>
                        <a:t>distanta</a:t>
                      </a:r>
                      <a:r>
                        <a:rPr lang="en-US" sz="900" dirty="0">
                          <a:solidFill>
                            <a:schemeClr val="dk1"/>
                          </a:solidFill>
                          <a:latin typeface="Sora" pitchFamily="2" charset="0"/>
                          <a:ea typeface="Anaheim"/>
                          <a:cs typeface="Sora" pitchFamily="2" charset="0"/>
                          <a:sym typeface="Anaheim"/>
                        </a:rPr>
                        <a:t>. </a:t>
                      </a:r>
                      <a:endParaRPr sz="900" dirty="0">
                        <a:solidFill>
                          <a:schemeClr val="dk1"/>
                        </a:solidFill>
                        <a:latin typeface="Sora" pitchFamily="2" charset="0"/>
                        <a:ea typeface="Anaheim"/>
                        <a:cs typeface="Sora" pitchFamily="2" charset="0"/>
                        <a:sym typeface="Anaheim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-RO" sz="900" b="1" dirty="0">
                          <a:solidFill>
                            <a:schemeClr val="bg1"/>
                          </a:solidFill>
                          <a:latin typeface="Sora" pitchFamily="2" charset="0"/>
                          <a:ea typeface="Anaheim"/>
                          <a:cs typeface="Sora" pitchFamily="2" charset="0"/>
                          <a:sym typeface="Anaheim"/>
                        </a:rPr>
                        <a:t>Tehnologii Utilizate</a:t>
                      </a:r>
                      <a:endParaRPr sz="900" b="1" dirty="0">
                        <a:solidFill>
                          <a:schemeClr val="bg1"/>
                        </a:solidFill>
                        <a:latin typeface="Sora" pitchFamily="2" charset="0"/>
                        <a:ea typeface="Anaheim"/>
                        <a:cs typeface="Sora" pitchFamily="2" charset="0"/>
                        <a:sym typeface="Anaheim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ro-RO" sz="900" dirty="0">
                          <a:solidFill>
                            <a:schemeClr val="dk1"/>
                          </a:solidFill>
                          <a:latin typeface="Sora" pitchFamily="2" charset="0"/>
                          <a:ea typeface="Anaheim"/>
                          <a:cs typeface="Sora" pitchFamily="2" charset="0"/>
                          <a:sym typeface="Anaheim"/>
                        </a:rPr>
                        <a:t>Wi-Fi, MQTT, ADC</a:t>
                      </a:r>
                      <a:r>
                        <a:rPr lang="en-US" sz="900" dirty="0">
                          <a:solidFill>
                            <a:schemeClr val="dk1"/>
                          </a:solidFill>
                          <a:latin typeface="Sora" pitchFamily="2" charset="0"/>
                          <a:ea typeface="Anaheim"/>
                          <a:cs typeface="Sora" pitchFamily="2" charset="0"/>
                          <a:sym typeface="Anaheim"/>
                        </a:rPr>
                        <a:t>, RPC</a:t>
                      </a:r>
                      <a:endParaRPr sz="900" dirty="0">
                        <a:solidFill>
                          <a:schemeClr val="dk1"/>
                        </a:solidFill>
                        <a:latin typeface="Sora" pitchFamily="2" charset="0"/>
                        <a:ea typeface="Anaheim"/>
                        <a:cs typeface="Sora" pitchFamily="2" charset="0"/>
                        <a:sym typeface="Anaheim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Google Shape;135;p28">
            <a:extLst>
              <a:ext uri="{FF2B5EF4-FFF2-40B4-BE49-F238E27FC236}">
                <a16:creationId xmlns:a16="http://schemas.microsoft.com/office/drawing/2014/main" id="{2F1A5D3F-5BF9-EE83-BD24-E6A3C2A64B9F}"/>
              </a:ext>
            </a:extLst>
          </p:cNvPr>
          <p:cNvSpPr txBox="1"/>
          <p:nvPr/>
        </p:nvSpPr>
        <p:spPr>
          <a:xfrm>
            <a:off x="716100" y="1059960"/>
            <a:ext cx="77040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tx1"/>
              </a:solidFill>
              <a:latin typeface="Sora" pitchFamily="2" charset="0"/>
              <a:ea typeface="Anaheim"/>
              <a:cs typeface="Sora" pitchFamily="2" charset="0"/>
              <a:sym typeface="Anaheim"/>
            </a:endParaRPr>
          </a:p>
        </p:txBody>
      </p:sp>
      <p:sp>
        <p:nvSpPr>
          <p:cNvPr id="5" name="Google Shape;137;p28">
            <a:extLst>
              <a:ext uri="{FF2B5EF4-FFF2-40B4-BE49-F238E27FC236}">
                <a16:creationId xmlns:a16="http://schemas.microsoft.com/office/drawing/2014/main" id="{B607A2C6-EEE0-BB97-2B34-9B49FA187720}"/>
              </a:ext>
            </a:extLst>
          </p:cNvPr>
          <p:cNvSpPr txBox="1"/>
          <p:nvPr/>
        </p:nvSpPr>
        <p:spPr>
          <a:xfrm>
            <a:off x="2444423" y="4457463"/>
            <a:ext cx="4247353" cy="337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" sz="800" dirty="0">
                <a:solidFill>
                  <a:schemeClr val="tx1"/>
                </a:solidFill>
                <a:latin typeface="Sora" pitchFamily="2" charset="0"/>
                <a:ea typeface="Anaheim"/>
                <a:cs typeface="Sora" pitchFamily="2" charset="0"/>
                <a:sym typeface="Anaheim"/>
              </a:rPr>
              <a:t>Puteti s</a:t>
            </a:r>
            <a:r>
              <a:rPr lang="ro-RO" sz="800" dirty="0">
                <a:solidFill>
                  <a:schemeClr val="tx1"/>
                </a:solidFill>
                <a:latin typeface="Sora" pitchFamily="2" charset="0"/>
                <a:ea typeface="Anaheim"/>
                <a:cs typeface="Sora" pitchFamily="2" charset="0"/>
                <a:sym typeface="Anaheim"/>
              </a:rPr>
              <a:t>a </a:t>
            </a:r>
            <a:r>
              <a:rPr lang="ro-RO" sz="800" dirty="0" err="1">
                <a:solidFill>
                  <a:schemeClr val="tx1"/>
                </a:solidFill>
                <a:latin typeface="Sora" pitchFamily="2" charset="0"/>
                <a:ea typeface="Anaheim"/>
                <a:cs typeface="Sora" pitchFamily="2" charset="0"/>
                <a:sym typeface="Anaheim"/>
              </a:rPr>
              <a:t>vizitati</a:t>
            </a:r>
            <a:r>
              <a:rPr lang="ro-RO" sz="800" dirty="0">
                <a:solidFill>
                  <a:schemeClr val="tx1"/>
                </a:solidFill>
                <a:latin typeface="Sora" pitchFamily="2" charset="0"/>
                <a:ea typeface="Anaheim"/>
                <a:cs typeface="Sora" pitchFamily="2" charset="0"/>
                <a:sym typeface="Anaheim"/>
              </a:rPr>
              <a:t> proiectul pe</a:t>
            </a:r>
            <a:r>
              <a:rPr lang="en" sz="800" dirty="0">
                <a:solidFill>
                  <a:schemeClr val="tx1"/>
                </a:solidFill>
                <a:latin typeface="Sora" pitchFamily="2" charset="0"/>
                <a:ea typeface="Anaheim"/>
                <a:cs typeface="Sora" pitchFamily="2" charset="0"/>
                <a:sym typeface="Anaheim"/>
              </a:rPr>
              <a:t>:</a:t>
            </a:r>
            <a:br>
              <a:rPr lang="en" sz="800" dirty="0">
                <a:solidFill>
                  <a:schemeClr val="tx1"/>
                </a:solidFill>
                <a:latin typeface="Sora" pitchFamily="2" charset="0"/>
                <a:ea typeface="Anaheim"/>
                <a:cs typeface="Sora" pitchFamily="2" charset="0"/>
                <a:sym typeface="Anaheim"/>
              </a:rPr>
            </a:br>
            <a:r>
              <a:rPr lang="en-US" sz="800" u="sng" dirty="0" smtClean="0">
                <a:solidFill>
                  <a:schemeClr val="tx1"/>
                </a:solidFill>
                <a:latin typeface="Sora" pitchFamily="2" charset="0"/>
                <a:ea typeface="Anaheim"/>
                <a:cs typeface="Sora" pitchFamily="2" charset="0"/>
                <a:sym typeface="Anaheim"/>
              </a:rPr>
              <a:t>https</a:t>
            </a:r>
            <a:r>
              <a:rPr lang="en-US" sz="800" u="sng" dirty="0">
                <a:solidFill>
                  <a:schemeClr val="tx1"/>
                </a:solidFill>
                <a:latin typeface="Sora" pitchFamily="2" charset="0"/>
                <a:ea typeface="Anaheim"/>
                <a:cs typeface="Sora" pitchFamily="2" charset="0"/>
                <a:sym typeface="Anaheim"/>
              </a:rPr>
              <a:t>://</a:t>
            </a:r>
            <a:r>
              <a:rPr lang="en-US" sz="800" u="sng" dirty="0" smtClean="0">
                <a:solidFill>
                  <a:schemeClr val="tx1"/>
                </a:solidFill>
                <a:latin typeface="Sora" pitchFamily="2" charset="0"/>
                <a:ea typeface="Anaheim"/>
                <a:cs typeface="Sora" pitchFamily="2" charset="0"/>
                <a:sym typeface="Anaheim"/>
              </a:rPr>
              <a:t>github.com/GhervasaCristian/IoTLab</a:t>
            </a:r>
            <a:r>
              <a:rPr lang="ro-RO" sz="800" u="sng" dirty="0" smtClean="0">
                <a:solidFill>
                  <a:schemeClr val="tx1"/>
                </a:solidFill>
                <a:latin typeface="Sora" pitchFamily="2" charset="0"/>
                <a:ea typeface="Anaheim"/>
                <a:cs typeface="Sora" pitchFamily="2" charset="0"/>
                <a:sym typeface="Anaheim"/>
              </a:rPr>
              <a:t> </a:t>
            </a:r>
            <a:r>
              <a:rPr lang="en-US" sz="800" u="sng" dirty="0" smtClean="0">
                <a:solidFill>
                  <a:schemeClr val="tx1"/>
                </a:solidFill>
                <a:latin typeface="Sora" pitchFamily="2" charset="0"/>
                <a:ea typeface="Anaheim"/>
                <a:cs typeface="Sora" pitchFamily="2" charset="0"/>
                <a:sym typeface="Anaheim"/>
              </a:rPr>
              <a:t>view</a:t>
            </a:r>
            <a:r>
              <a:rPr lang="ro-RO" sz="800" u="sng" dirty="0" smtClean="0">
                <a:solidFill>
                  <a:schemeClr val="tx1"/>
                </a:solidFill>
                <a:latin typeface="Sora" pitchFamily="2" charset="0"/>
                <a:ea typeface="Anaheim"/>
                <a:cs typeface="Sora" pitchFamily="2" charset="0"/>
                <a:sym typeface="Anaheim"/>
              </a:rPr>
              <a:t>.com</a:t>
            </a:r>
            <a:endParaRPr sz="800" dirty="0">
              <a:solidFill>
                <a:schemeClr val="tx1"/>
              </a:solidFill>
              <a:latin typeface="Sora" pitchFamily="2" charset="0"/>
              <a:ea typeface="Anaheim"/>
              <a:cs typeface="Sora" pitchFamily="2" charset="0"/>
              <a:sym typeface="Anaheim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75796B4-41DA-9E6A-E0DF-F1A5296CD0DE}"/>
              </a:ext>
            </a:extLst>
          </p:cNvPr>
          <p:cNvGrpSpPr/>
          <p:nvPr/>
        </p:nvGrpSpPr>
        <p:grpSpPr>
          <a:xfrm rot="15742485" flipH="1">
            <a:off x="306783" y="-1035394"/>
            <a:ext cx="834234" cy="2470201"/>
            <a:chOff x="-95720" y="0"/>
            <a:chExt cx="834234" cy="2470201"/>
          </a:xfrm>
        </p:grpSpPr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63E18D37-9047-D9DB-09B0-990CE4D228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0" y="0"/>
              <a:ext cx="738514" cy="2470201"/>
            </a:xfrm>
            <a:prstGeom prst="rect">
              <a:avLst/>
            </a:prstGeom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89BB605F-CBFC-D657-47FC-7B953779A89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>
              <a:off x="0" y="1"/>
              <a:ext cx="448764" cy="1747400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DCE315CF-BBC9-8A9C-1CF8-3E91F2584C5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>
              <a:off x="-95720" y="0"/>
              <a:ext cx="392658" cy="128386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C5EEA3B-5D03-8BED-3254-97980E9979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320" y="2343339"/>
            <a:ext cx="2889968" cy="2047469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EECC6AF5-347A-7A7E-8FAC-0667B88452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5710237" y="-7450"/>
            <a:ext cx="3433763" cy="102798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38D21425-4008-D6C9-94AF-E3A84FD22FD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 flipV="1">
            <a:off x="6219825" y="-7450"/>
            <a:ext cx="2924175" cy="8763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5BD07EAE-C3B7-01EC-4D46-3A61AD901C8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flipH="1" flipV="1">
            <a:off x="6622026" y="-103281"/>
            <a:ext cx="2521974" cy="771325"/>
          </a:xfrm>
          <a:prstGeom prst="rect">
            <a:avLst/>
          </a:prstGeom>
        </p:spPr>
      </p:pic>
      <p:sp>
        <p:nvSpPr>
          <p:cNvPr id="108" name="Google Shape;108;p4"/>
          <p:cNvSpPr txBox="1">
            <a:spLocks noGrp="1"/>
          </p:cNvSpPr>
          <p:nvPr>
            <p:ph type="title"/>
          </p:nvPr>
        </p:nvSpPr>
        <p:spPr>
          <a:xfrm>
            <a:off x="3771900" y="1769810"/>
            <a:ext cx="5479676" cy="2028264"/>
          </a:xfr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ro-RO" sz="4400" dirty="0" smtClean="0"/>
              <a:t>Arhitectura</a:t>
            </a:r>
            <a:br>
              <a:rPr lang="ro-RO" sz="4400" dirty="0" smtClean="0"/>
            </a:br>
            <a:r>
              <a:rPr lang="ro-RO" sz="4400" dirty="0" smtClean="0"/>
              <a:t>Lucrarii</a:t>
            </a:r>
            <a:endParaRPr lang="en-US" sz="4400" dirty="0"/>
          </a:p>
        </p:txBody>
      </p:sp>
      <p:sp>
        <p:nvSpPr>
          <p:cNvPr id="109" name="Google Shape;109;p4"/>
          <p:cNvSpPr txBox="1">
            <a:spLocks noGrp="1"/>
          </p:cNvSpPr>
          <p:nvPr>
            <p:ph type="body" idx="1"/>
          </p:nvPr>
        </p:nvSpPr>
        <p:spPr>
          <a:xfrm>
            <a:off x="3771900" y="3798074"/>
            <a:ext cx="4648200" cy="533896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ro-RO" sz="1800" dirty="0">
                <a:latin typeface="Segoe UI" panose="020B0502040204020203" pitchFamily="34" charset="0"/>
              </a:rPr>
              <a:t>De ce IoT? </a:t>
            </a:r>
            <a:r>
              <a:rPr lang="en-US" sz="1800" dirty="0">
                <a:latin typeface="Segoe UI" panose="020B0502040204020203" pitchFamily="34" charset="0"/>
              </a:rPr>
              <a:t>Ce problem</a:t>
            </a:r>
            <a:r>
              <a:rPr lang="ro-RO" sz="1800" dirty="0">
                <a:latin typeface="Segoe UI" panose="020B0502040204020203" pitchFamily="34" charset="0"/>
              </a:rPr>
              <a:t>ă rezolvă?</a:t>
            </a:r>
            <a:endParaRPr lang="en-US" sz="1800" dirty="0"/>
          </a:p>
        </p:txBody>
      </p:sp>
      <p:sp>
        <p:nvSpPr>
          <p:cNvPr id="110" name="Google Shape;110;p4"/>
          <p:cNvSpPr txBox="1">
            <a:spLocks noGrp="1"/>
          </p:cNvSpPr>
          <p:nvPr>
            <p:ph type="body" idx="2"/>
          </p:nvPr>
        </p:nvSpPr>
        <p:spPr>
          <a:xfrm>
            <a:off x="723900" y="572118"/>
            <a:ext cx="2080966" cy="1640329"/>
          </a:xfr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US" noProof="0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4768641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Word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38" y="447320"/>
            <a:ext cx="8954925" cy="4185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093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18262" y="-951452"/>
            <a:ext cx="14827962" cy="6930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980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953525" y="-1524000"/>
            <a:ext cx="25453564" cy="11896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282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26762" y="-1053548"/>
            <a:ext cx="14827962" cy="6930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7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01663" y="-3565130"/>
            <a:ext cx="20073422" cy="9382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02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-83820" y="-60960"/>
            <a:ext cx="9364980" cy="53568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38" y="447320"/>
            <a:ext cx="8954925" cy="418540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429" y="5255240"/>
            <a:ext cx="6026472" cy="4244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087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83820" y="-60960"/>
            <a:ext cx="9364980" cy="53568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157" y="0"/>
            <a:ext cx="7303143" cy="51435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6210" y="-2919812"/>
            <a:ext cx="5589035" cy="261223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0" y="5451078"/>
            <a:ext cx="5361832" cy="2732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5725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3844"/>
            <a:ext cx="9144000" cy="466033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8764" y="-4624564"/>
            <a:ext cx="6026472" cy="424435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6573" y="5911288"/>
            <a:ext cx="5710854" cy="2914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535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331" y="273844"/>
            <a:ext cx="9155331" cy="467313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5890" y="-3086100"/>
            <a:ext cx="5220888" cy="266088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4190" y="5564380"/>
            <a:ext cx="4824287" cy="3001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245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619" y="-3932"/>
            <a:ext cx="8280762" cy="515136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5622" y="-2993901"/>
            <a:ext cx="5312756" cy="271177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0815" y="5425623"/>
            <a:ext cx="5982370" cy="3133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889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83820" y="-60960"/>
            <a:ext cx="9364980" cy="53568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3859" y="-53340"/>
            <a:ext cx="9987394" cy="523149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5253" y="-2861958"/>
            <a:ext cx="4293494" cy="267093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6511" y="5582353"/>
            <a:ext cx="2550978" cy="2329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344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83820" y="-60960"/>
            <a:ext cx="9364980" cy="53568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714" y="100418"/>
            <a:ext cx="5277586" cy="48203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6072" y="-2986617"/>
            <a:ext cx="5156870" cy="270121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8806" y="5523500"/>
            <a:ext cx="5691402" cy="3126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290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-83820" y="-60960"/>
            <a:ext cx="9364980" cy="53568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98" y="163970"/>
            <a:ext cx="8766605" cy="481556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559" y="-2833878"/>
            <a:ext cx="2856881" cy="260936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9347" y="5459450"/>
            <a:ext cx="4269529" cy="3009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936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83820" y="-60960"/>
            <a:ext cx="9364980" cy="53568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647" y="0"/>
            <a:ext cx="7296706" cy="514282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2649" y="-2884030"/>
            <a:ext cx="3978702" cy="2185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109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EECC6AF5-347A-7A7E-8FAC-0667B88452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 flipV="1">
            <a:off x="5710237" y="-7450"/>
            <a:ext cx="3433763" cy="102798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38D21425-4008-D6C9-94AF-E3A84FD22F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 flipV="1">
            <a:off x="6219825" y="-7450"/>
            <a:ext cx="2924175" cy="8763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5BD07EAE-C3B7-01EC-4D46-3A61AD901C8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 flipV="1">
            <a:off x="6622026" y="-103281"/>
            <a:ext cx="2521974" cy="771325"/>
          </a:xfrm>
          <a:prstGeom prst="rect">
            <a:avLst/>
          </a:prstGeom>
        </p:spPr>
      </p:pic>
      <p:sp>
        <p:nvSpPr>
          <p:cNvPr id="108" name="Google Shape;108;p4"/>
          <p:cNvSpPr txBox="1">
            <a:spLocks noGrp="1"/>
          </p:cNvSpPr>
          <p:nvPr>
            <p:ph type="title"/>
          </p:nvPr>
        </p:nvSpPr>
        <p:spPr>
          <a:xfrm>
            <a:off x="3771899" y="2028890"/>
            <a:ext cx="5477355" cy="2028264"/>
          </a:xfr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ro-RO" sz="3800" dirty="0"/>
              <a:t>Arhitectura </a:t>
            </a:r>
            <a:br>
              <a:rPr lang="ro-RO" sz="3800" dirty="0"/>
            </a:br>
            <a:r>
              <a:rPr lang="ro-RO" sz="3800" dirty="0"/>
              <a:t>hardware </a:t>
            </a:r>
            <a:r>
              <a:rPr lang="en-US" sz="3800" dirty="0"/>
              <a:t>| </a:t>
            </a:r>
            <a:r>
              <a:rPr lang="ro-RO" sz="3800" dirty="0"/>
              <a:t>software</a:t>
            </a:r>
            <a:endParaRPr lang="en-US" sz="3800" dirty="0"/>
          </a:p>
        </p:txBody>
      </p:sp>
      <p:sp>
        <p:nvSpPr>
          <p:cNvPr id="109" name="Google Shape;109;p4"/>
          <p:cNvSpPr txBox="1">
            <a:spLocks noGrp="1"/>
          </p:cNvSpPr>
          <p:nvPr>
            <p:ph type="body" idx="1"/>
          </p:nvPr>
        </p:nvSpPr>
        <p:spPr>
          <a:xfrm>
            <a:off x="3771900" y="4057154"/>
            <a:ext cx="4648200" cy="533896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it-IT" sz="1800" b="1" dirty="0">
                <a:latin typeface="Calibri" panose="020F0502020204030204" pitchFamily="34" charset="0"/>
                <a:ea typeface="Calibri" panose="020F0502020204030204" pitchFamily="34" charset="0"/>
              </a:rPr>
              <a:t>Prezentarea panoului de control si monitorizare</a:t>
            </a:r>
          </a:p>
        </p:txBody>
      </p:sp>
      <p:sp>
        <p:nvSpPr>
          <p:cNvPr id="110" name="Google Shape;110;p4"/>
          <p:cNvSpPr txBox="1">
            <a:spLocks noGrp="1"/>
          </p:cNvSpPr>
          <p:nvPr>
            <p:ph type="body" idx="2"/>
          </p:nvPr>
        </p:nvSpPr>
        <p:spPr>
          <a:xfrm>
            <a:off x="723900" y="572118"/>
            <a:ext cx="2080966" cy="1640329"/>
          </a:xfr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US" noProof="0" dirty="0"/>
              <a:t>02</a:t>
            </a:r>
          </a:p>
        </p:txBody>
      </p:sp>
      <p:pic>
        <p:nvPicPr>
          <p:cNvPr id="21" name="Picture 20" descr="Close up photo of colorful graph data">
            <a:extLst>
              <a:ext uri="{FF2B5EF4-FFF2-40B4-BE49-F238E27FC236}">
                <a16:creationId xmlns:a16="http://schemas.microsoft.com/office/drawing/2014/main" id="{B1EA25A5-F334-48E3-6AF6-3246A3A2FCB5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0463" r="20463"/>
          <a:stretch/>
        </p:blipFill>
        <p:spPr>
          <a:xfrm>
            <a:off x="882300" y="2347199"/>
            <a:ext cx="1976100" cy="2230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4443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Word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 txBox="1">
            <a:spLocks noGrp="1"/>
          </p:cNvSpPr>
          <p:nvPr>
            <p:ph type="title"/>
          </p:nvPr>
        </p:nvSpPr>
        <p:spPr>
          <a:xfrm>
            <a:off x="774221" y="123446"/>
            <a:ext cx="7696200" cy="528927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ro-RO" noProof="0" dirty="0"/>
              <a:t>Arhitectura Sistemului</a:t>
            </a:r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F0D2106-0867-9916-63CC-86971DA3C443}"/>
              </a:ext>
            </a:extLst>
          </p:cNvPr>
          <p:cNvGrpSpPr/>
          <p:nvPr/>
        </p:nvGrpSpPr>
        <p:grpSpPr>
          <a:xfrm rot="21248859" flipH="1">
            <a:off x="-901944" y="5035310"/>
            <a:ext cx="2255027" cy="622431"/>
            <a:chOff x="6831797" y="4315899"/>
            <a:chExt cx="3227133" cy="890751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C82FE61F-30DC-6399-0A62-6C7B135A9A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6831797" y="4315899"/>
              <a:ext cx="2724237" cy="815572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7E1663BC-4FF5-CDD4-EE5A-5E083208105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>
              <a:off x="7286061" y="4446016"/>
              <a:ext cx="2319946" cy="695226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E37AE330-81C4-FB78-884C-12AE10817B2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>
              <a:off x="8058078" y="4594705"/>
              <a:ext cx="2000852" cy="611945"/>
            </a:xfrm>
            <a:prstGeom prst="rect">
              <a:avLst/>
            </a:prstGeom>
          </p:spPr>
        </p:pic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1AE897B-7875-EB9F-CF80-C1F18412CAC0}"/>
              </a:ext>
            </a:extLst>
          </p:cNvPr>
          <p:cNvGrpSpPr/>
          <p:nvPr/>
        </p:nvGrpSpPr>
        <p:grpSpPr>
          <a:xfrm rot="11700000" flipH="1">
            <a:off x="8016812" y="-30073"/>
            <a:ext cx="2254378" cy="622288"/>
            <a:chOff x="6832729" y="4316100"/>
            <a:chExt cx="3226204" cy="890547"/>
          </a:xfrm>
        </p:grpSpPr>
        <p:pic>
          <p:nvPicPr>
            <p:cNvPr id="53" name="Graphic 52">
              <a:extLst>
                <a:ext uri="{FF2B5EF4-FFF2-40B4-BE49-F238E27FC236}">
                  <a16:creationId xmlns:a16="http://schemas.microsoft.com/office/drawing/2014/main" id="{6E7721F2-0331-E43E-C497-BC3AE2F7DC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6832729" y="4316100"/>
              <a:ext cx="2724237" cy="815572"/>
            </a:xfrm>
            <a:prstGeom prst="rect">
              <a:avLst/>
            </a:prstGeom>
          </p:spPr>
        </p:pic>
        <p:pic>
          <p:nvPicPr>
            <p:cNvPr id="54" name="Graphic 53">
              <a:extLst>
                <a:ext uri="{FF2B5EF4-FFF2-40B4-BE49-F238E27FC236}">
                  <a16:creationId xmlns:a16="http://schemas.microsoft.com/office/drawing/2014/main" id="{16EA12E7-4999-5003-07A2-1C981DDCF72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>
              <a:off x="7286058" y="4446019"/>
              <a:ext cx="2319946" cy="695228"/>
            </a:xfrm>
            <a:prstGeom prst="rect">
              <a:avLst/>
            </a:prstGeom>
          </p:spPr>
        </p:pic>
        <p:pic>
          <p:nvPicPr>
            <p:cNvPr id="55" name="Graphic 54">
              <a:extLst>
                <a:ext uri="{FF2B5EF4-FFF2-40B4-BE49-F238E27FC236}">
                  <a16:creationId xmlns:a16="http://schemas.microsoft.com/office/drawing/2014/main" id="{32895A88-A5DD-CA31-EC82-98D39AE27B6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>
              <a:off x="8058080" y="4594703"/>
              <a:ext cx="2000853" cy="611944"/>
            </a:xfrm>
            <a:prstGeom prst="rect">
              <a:avLst/>
            </a:prstGeom>
          </p:spPr>
        </p:pic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8DF43FA6-3CA4-D9DE-99AC-ADC581F62760}"/>
              </a:ext>
            </a:extLst>
          </p:cNvPr>
          <p:cNvSpPr/>
          <p:nvPr/>
        </p:nvSpPr>
        <p:spPr>
          <a:xfrm>
            <a:off x="683970" y="3828099"/>
            <a:ext cx="7988198" cy="30823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</a:rPr>
              <a:t>SISTEM DE OPERARE</a:t>
            </a:r>
            <a:endParaRPr lang="ro-RO" dirty="0">
              <a:solidFill>
                <a:schemeClr val="bg2"/>
              </a:solidFill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AFD97A83-247C-42E8-5483-C3ED9740ED9A}"/>
              </a:ext>
            </a:extLst>
          </p:cNvPr>
          <p:cNvSpPr/>
          <p:nvPr/>
        </p:nvSpPr>
        <p:spPr>
          <a:xfrm>
            <a:off x="1938526" y="2681054"/>
            <a:ext cx="2734327" cy="30918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 smtClean="0">
                <a:solidFill>
                  <a:schemeClr val="bg2"/>
                </a:solidFill>
              </a:rPr>
              <a:t>VOC</a:t>
            </a:r>
            <a:endParaRPr lang="es-ES" dirty="0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8F5225B8-273F-BCEC-54FA-F257CEF64338}"/>
              </a:ext>
            </a:extLst>
          </p:cNvPr>
          <p:cNvSpPr/>
          <p:nvPr/>
        </p:nvSpPr>
        <p:spPr>
          <a:xfrm>
            <a:off x="2333546" y="2298293"/>
            <a:ext cx="4689042" cy="308238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 smtClean="0">
                <a:solidFill>
                  <a:schemeClr val="bg2"/>
                </a:solidFill>
              </a:rPr>
              <a:t>DAQmx</a:t>
            </a:r>
            <a:endParaRPr lang="ro-RO" dirty="0">
              <a:solidFill>
                <a:schemeClr val="bg2"/>
              </a:solidFill>
            </a:endParaRP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DF29B132-965E-576A-6C5C-96E22029BABE}"/>
              </a:ext>
            </a:extLst>
          </p:cNvPr>
          <p:cNvSpPr/>
          <p:nvPr/>
        </p:nvSpPr>
        <p:spPr>
          <a:xfrm>
            <a:off x="475114" y="4215158"/>
            <a:ext cx="8294414" cy="308238"/>
          </a:xfrm>
          <a:prstGeom prst="rect">
            <a:avLst/>
          </a:prstGeom>
          <a:solidFill>
            <a:schemeClr val="accent1">
              <a:lumMod val="1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 smtClean="0">
                <a:solidFill>
                  <a:schemeClr val="bg2"/>
                </a:solidFill>
              </a:rPr>
              <a:t>PC</a:t>
            </a:r>
            <a:endParaRPr lang="ro-RO" dirty="0">
              <a:solidFill>
                <a:schemeClr val="bg2"/>
              </a:solidFill>
            </a:endParaRP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8FE2B243-E6F9-9276-CCDB-8247CD40CEFB}"/>
              </a:ext>
            </a:extLst>
          </p:cNvPr>
          <p:cNvSpPr/>
          <p:nvPr/>
        </p:nvSpPr>
        <p:spPr>
          <a:xfrm>
            <a:off x="1030558" y="3451942"/>
            <a:ext cx="7183526" cy="308238"/>
          </a:xfrm>
          <a:prstGeom prst="rect">
            <a:avLst/>
          </a:prstGeom>
          <a:solidFill>
            <a:schemeClr val="accent1">
              <a:lumMod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</a:rPr>
              <a:t>SOFTWARE</a:t>
            </a:r>
            <a:endParaRPr lang="ro-RO" dirty="0">
              <a:solidFill>
                <a:schemeClr val="bg2"/>
              </a:solidFill>
            </a:endParaRPr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DCAD4391-6AB5-A614-AFAC-499A340F4997}"/>
              </a:ext>
            </a:extLst>
          </p:cNvPr>
          <p:cNvSpPr/>
          <p:nvPr/>
        </p:nvSpPr>
        <p:spPr>
          <a:xfrm>
            <a:off x="29840" y="4215158"/>
            <a:ext cx="391458" cy="308238"/>
          </a:xfrm>
          <a:prstGeom prst="rect">
            <a:avLst/>
          </a:prstGeom>
          <a:solidFill>
            <a:schemeClr val="accent1">
              <a:lumMod val="1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chemeClr val="bg2"/>
                </a:solidFill>
              </a:rPr>
              <a:t>L0</a:t>
            </a:r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8EEAAE7B-51D0-8CAE-B1FA-945958F826E6}"/>
              </a:ext>
            </a:extLst>
          </p:cNvPr>
          <p:cNvSpPr/>
          <p:nvPr/>
        </p:nvSpPr>
        <p:spPr>
          <a:xfrm>
            <a:off x="29840" y="3823071"/>
            <a:ext cx="391458" cy="30823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chemeClr val="bg2"/>
                </a:solidFill>
              </a:rPr>
              <a:t>L1</a:t>
            </a:r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6D29627B-1631-5102-A7CB-893873980A3C}"/>
              </a:ext>
            </a:extLst>
          </p:cNvPr>
          <p:cNvSpPr/>
          <p:nvPr/>
        </p:nvSpPr>
        <p:spPr>
          <a:xfrm>
            <a:off x="34172" y="3448976"/>
            <a:ext cx="391458" cy="308238"/>
          </a:xfrm>
          <a:prstGeom prst="rect">
            <a:avLst/>
          </a:prstGeom>
          <a:solidFill>
            <a:schemeClr val="accent1">
              <a:lumMod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chemeClr val="bg2"/>
                </a:solidFill>
              </a:rPr>
              <a:t>L2</a:t>
            </a:r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C3F460E4-9964-FDE5-BF4C-AE3AE58BC6B1}"/>
              </a:ext>
            </a:extLst>
          </p:cNvPr>
          <p:cNvSpPr/>
          <p:nvPr/>
        </p:nvSpPr>
        <p:spPr>
          <a:xfrm>
            <a:off x="29840" y="3075785"/>
            <a:ext cx="391458" cy="30823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chemeClr val="bg2"/>
                </a:solidFill>
              </a:rPr>
              <a:t>L3</a:t>
            </a:r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190B75AC-AFC4-D703-9276-025DEDE2E40F}"/>
              </a:ext>
            </a:extLst>
          </p:cNvPr>
          <p:cNvSpPr/>
          <p:nvPr/>
        </p:nvSpPr>
        <p:spPr>
          <a:xfrm>
            <a:off x="29840" y="2689810"/>
            <a:ext cx="391458" cy="30823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chemeClr val="bg2"/>
                </a:solidFill>
              </a:rPr>
              <a:t>L4</a:t>
            </a:r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67CC02EF-48EB-2B69-AF8A-3B9EF8B810F2}"/>
              </a:ext>
            </a:extLst>
          </p:cNvPr>
          <p:cNvSpPr/>
          <p:nvPr/>
        </p:nvSpPr>
        <p:spPr>
          <a:xfrm>
            <a:off x="29840" y="2298293"/>
            <a:ext cx="391458" cy="308238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chemeClr val="bg2"/>
                </a:solidFill>
              </a:rPr>
              <a:t>L5</a:t>
            </a:r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A06653ED-5AC2-6885-11A6-43C8E8CD8413}"/>
              </a:ext>
            </a:extLst>
          </p:cNvPr>
          <p:cNvSpPr/>
          <p:nvPr/>
        </p:nvSpPr>
        <p:spPr>
          <a:xfrm>
            <a:off x="1522879" y="3075785"/>
            <a:ext cx="6310379" cy="30823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 smtClean="0">
                <a:solidFill>
                  <a:schemeClr val="bg2"/>
                </a:solidFill>
              </a:rPr>
              <a:t>LABVIEW</a:t>
            </a:r>
            <a:endParaRPr lang="ro-RO" dirty="0">
              <a:solidFill>
                <a:schemeClr val="bg2"/>
              </a:solidFill>
            </a:endParaRPr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ACE8DC30-96FE-DE7E-5475-498D97C7F03E}"/>
              </a:ext>
            </a:extLst>
          </p:cNvPr>
          <p:cNvSpPr/>
          <p:nvPr/>
        </p:nvSpPr>
        <p:spPr>
          <a:xfrm>
            <a:off x="29840" y="1905941"/>
            <a:ext cx="391458" cy="308238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chemeClr val="bg2"/>
                </a:solidFill>
              </a:rPr>
              <a:t>L6</a:t>
            </a:r>
          </a:p>
        </p:txBody>
      </p:sp>
      <p:sp>
        <p:nvSpPr>
          <p:cNvPr id="290" name="Rectangle 289">
            <a:extLst>
              <a:ext uri="{FF2B5EF4-FFF2-40B4-BE49-F238E27FC236}">
                <a16:creationId xmlns:a16="http://schemas.microsoft.com/office/drawing/2014/main" id="{B27222A1-CBE9-D859-4F25-5095FD99F1BD}"/>
              </a:ext>
            </a:extLst>
          </p:cNvPr>
          <p:cNvSpPr/>
          <p:nvPr/>
        </p:nvSpPr>
        <p:spPr>
          <a:xfrm>
            <a:off x="2681017" y="1905941"/>
            <a:ext cx="3994099" cy="308238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</a:rPr>
              <a:t>SENZORI</a:t>
            </a:r>
            <a:endParaRPr lang="es-ES" dirty="0">
              <a:solidFill>
                <a:schemeClr val="bg2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26201A-433F-33D5-F57D-27AB908F4508}"/>
              </a:ext>
            </a:extLst>
          </p:cNvPr>
          <p:cNvSpPr/>
          <p:nvPr/>
        </p:nvSpPr>
        <p:spPr>
          <a:xfrm>
            <a:off x="4672853" y="2681054"/>
            <a:ext cx="2744754" cy="30823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 smtClean="0">
                <a:solidFill>
                  <a:schemeClr val="bg2"/>
                </a:solidFill>
              </a:rPr>
              <a:t>AQI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533806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F7BC0D89-585A-6409-1FBE-96AD13B19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>
            <a:extLst>
              <a:ext uri="{FF2B5EF4-FFF2-40B4-BE49-F238E27FC236}">
                <a16:creationId xmlns:a16="http://schemas.microsoft.com/office/drawing/2014/main" id="{8F3FA54D-9F81-C202-78DC-ADB6BCF722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91276" y="138638"/>
            <a:ext cx="7696200" cy="528927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ro-RO" noProof="0" dirty="0"/>
              <a:t>Arhitectura Sistemului</a:t>
            </a:r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A7DE20-9578-6802-2DDA-725E632E5112}"/>
              </a:ext>
            </a:extLst>
          </p:cNvPr>
          <p:cNvSpPr/>
          <p:nvPr/>
        </p:nvSpPr>
        <p:spPr>
          <a:xfrm>
            <a:off x="7379190" y="2257694"/>
            <a:ext cx="1378983" cy="335126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</a:rPr>
              <a:t>CALIBRARE</a:t>
            </a:r>
            <a:endParaRPr lang="es-ES" dirty="0">
              <a:solidFill>
                <a:schemeClr val="bg2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81ACA12-61CE-3DB0-D26F-2857BFA35606}"/>
              </a:ext>
            </a:extLst>
          </p:cNvPr>
          <p:cNvGrpSpPr/>
          <p:nvPr/>
        </p:nvGrpSpPr>
        <p:grpSpPr>
          <a:xfrm rot="21248859" flipH="1">
            <a:off x="-1127513" y="4975830"/>
            <a:ext cx="2255027" cy="622431"/>
            <a:chOff x="6831797" y="4315899"/>
            <a:chExt cx="3227133" cy="890751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34946A6E-7E63-742D-D422-8B46880E33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6831797" y="4315899"/>
              <a:ext cx="2724237" cy="815572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3FA34BFB-AAE9-1176-C1FF-AEFF1B15840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>
              <a:off x="7286061" y="4446016"/>
              <a:ext cx="2319946" cy="695226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84BD1873-5F29-6E9C-B7AB-48E342293A7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>
              <a:off x="8058078" y="4594705"/>
              <a:ext cx="2000852" cy="611945"/>
            </a:xfrm>
            <a:prstGeom prst="rect">
              <a:avLst/>
            </a:prstGeom>
          </p:spPr>
        </p:pic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6B8460F-767C-A237-F263-85580994184E}"/>
              </a:ext>
            </a:extLst>
          </p:cNvPr>
          <p:cNvGrpSpPr/>
          <p:nvPr/>
        </p:nvGrpSpPr>
        <p:grpSpPr>
          <a:xfrm rot="11700000" flipH="1">
            <a:off x="7603109" y="13472"/>
            <a:ext cx="2254378" cy="622288"/>
            <a:chOff x="6832729" y="4316100"/>
            <a:chExt cx="3226204" cy="890547"/>
          </a:xfrm>
        </p:grpSpPr>
        <p:pic>
          <p:nvPicPr>
            <p:cNvPr id="53" name="Graphic 52">
              <a:extLst>
                <a:ext uri="{FF2B5EF4-FFF2-40B4-BE49-F238E27FC236}">
                  <a16:creationId xmlns:a16="http://schemas.microsoft.com/office/drawing/2014/main" id="{A795FBCA-0A12-9D54-0380-FCD7541788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6832729" y="4316100"/>
              <a:ext cx="2724237" cy="815572"/>
            </a:xfrm>
            <a:prstGeom prst="rect">
              <a:avLst/>
            </a:prstGeom>
          </p:spPr>
        </p:pic>
        <p:pic>
          <p:nvPicPr>
            <p:cNvPr id="54" name="Graphic 53">
              <a:extLst>
                <a:ext uri="{FF2B5EF4-FFF2-40B4-BE49-F238E27FC236}">
                  <a16:creationId xmlns:a16="http://schemas.microsoft.com/office/drawing/2014/main" id="{EEB8AA72-B9FF-434D-429F-B4121EA221F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>
              <a:off x="7286058" y="4446019"/>
              <a:ext cx="2319946" cy="695228"/>
            </a:xfrm>
            <a:prstGeom prst="rect">
              <a:avLst/>
            </a:prstGeom>
          </p:spPr>
        </p:pic>
        <p:pic>
          <p:nvPicPr>
            <p:cNvPr id="55" name="Graphic 54">
              <a:extLst>
                <a:ext uri="{FF2B5EF4-FFF2-40B4-BE49-F238E27FC236}">
                  <a16:creationId xmlns:a16="http://schemas.microsoft.com/office/drawing/2014/main" id="{9F8D3269-D825-801F-5CAC-EC6648BFB9E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>
              <a:off x="8058080" y="4594703"/>
              <a:ext cx="2000853" cy="611944"/>
            </a:xfrm>
            <a:prstGeom prst="rect">
              <a:avLst/>
            </a:prstGeom>
          </p:spPr>
        </p:pic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E7ED266C-90B4-4303-D30B-EB7037CF1AE3}"/>
              </a:ext>
            </a:extLst>
          </p:cNvPr>
          <p:cNvSpPr/>
          <p:nvPr/>
        </p:nvSpPr>
        <p:spPr>
          <a:xfrm>
            <a:off x="472491" y="3300536"/>
            <a:ext cx="8294414" cy="30823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</a:rPr>
              <a:t>SISTEM DE OPERARE</a:t>
            </a:r>
            <a:endParaRPr lang="ro-RO" dirty="0">
              <a:solidFill>
                <a:schemeClr val="bg2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8D69C46-4B52-730B-7432-0519EBF6F029}"/>
              </a:ext>
            </a:extLst>
          </p:cNvPr>
          <p:cNvSpPr/>
          <p:nvPr/>
        </p:nvSpPr>
        <p:spPr>
          <a:xfrm>
            <a:off x="6851963" y="797324"/>
            <a:ext cx="679814" cy="308238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200" dirty="0" smtClean="0">
                <a:solidFill>
                  <a:schemeClr val="bg2"/>
                </a:solidFill>
              </a:rPr>
              <a:t>PWM</a:t>
            </a:r>
            <a:endParaRPr lang="es-ES" sz="120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6B2DB97-392C-A112-43D3-95B49633F4F8}"/>
              </a:ext>
            </a:extLst>
          </p:cNvPr>
          <p:cNvSpPr/>
          <p:nvPr/>
        </p:nvSpPr>
        <p:spPr>
          <a:xfrm>
            <a:off x="475114" y="3942251"/>
            <a:ext cx="782916" cy="274972"/>
          </a:xfrm>
          <a:prstGeom prst="rect">
            <a:avLst/>
          </a:prstGeom>
          <a:solidFill>
            <a:schemeClr val="accent1">
              <a:lumMod val="1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</a:rPr>
              <a:t>CPU</a:t>
            </a:r>
            <a:endParaRPr lang="es-ES" dirty="0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2E76D30B-C5A0-3927-6C6D-CFC3DC5C2669}"/>
              </a:ext>
            </a:extLst>
          </p:cNvPr>
          <p:cNvSpPr/>
          <p:nvPr/>
        </p:nvSpPr>
        <p:spPr>
          <a:xfrm>
            <a:off x="470870" y="1793545"/>
            <a:ext cx="677145" cy="31179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 smtClean="0">
                <a:solidFill>
                  <a:schemeClr val="bg2"/>
                </a:solidFill>
              </a:rPr>
              <a:t>LPG</a:t>
            </a:r>
            <a:endParaRPr lang="es-ES" dirty="0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934EC8AF-5F64-1669-EBEC-7B8655D5D2B9}"/>
              </a:ext>
            </a:extLst>
          </p:cNvPr>
          <p:cNvSpPr/>
          <p:nvPr/>
        </p:nvSpPr>
        <p:spPr>
          <a:xfrm>
            <a:off x="477220" y="1312570"/>
            <a:ext cx="8262682" cy="308238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 smtClean="0">
                <a:solidFill>
                  <a:schemeClr val="bg2"/>
                </a:solidFill>
              </a:rPr>
              <a:t>DAQmx</a:t>
            </a:r>
            <a:endParaRPr lang="ro-RO" dirty="0">
              <a:solidFill>
                <a:schemeClr val="bg2"/>
              </a:solidFill>
            </a:endParaRPr>
          </a:p>
        </p:txBody>
      </p: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39F60641-1820-BA5C-8086-2ACD25193716}"/>
              </a:ext>
            </a:extLst>
          </p:cNvPr>
          <p:cNvCxnSpPr>
            <a:cxnSpLocks/>
            <a:stCxn id="135" idx="3"/>
            <a:endCxn id="33" idx="2"/>
          </p:cNvCxnSpPr>
          <p:nvPr/>
        </p:nvCxnSpPr>
        <p:spPr>
          <a:xfrm flipV="1">
            <a:off x="1264380" y="3608774"/>
            <a:ext cx="3355318" cy="2045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BFD52458-F1C2-D389-2F8F-4CF76496E61C}"/>
              </a:ext>
            </a:extLst>
          </p:cNvPr>
          <p:cNvSpPr/>
          <p:nvPr/>
        </p:nvSpPr>
        <p:spPr>
          <a:xfrm>
            <a:off x="2679641" y="3919124"/>
            <a:ext cx="782916" cy="274972"/>
          </a:xfrm>
          <a:prstGeom prst="rect">
            <a:avLst/>
          </a:prstGeom>
          <a:solidFill>
            <a:schemeClr val="accent1">
              <a:lumMod val="1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</a:rPr>
              <a:t>RAM</a:t>
            </a:r>
            <a:endParaRPr lang="es-ES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8EC81D5-848A-2306-6C16-1012987174DD}"/>
              </a:ext>
            </a:extLst>
          </p:cNvPr>
          <p:cNvCxnSpPr>
            <a:cxnSpLocks/>
            <a:stCxn id="20" idx="0"/>
            <a:endCxn id="33" idx="2"/>
          </p:cNvCxnSpPr>
          <p:nvPr/>
        </p:nvCxnSpPr>
        <p:spPr>
          <a:xfrm flipV="1">
            <a:off x="3071099" y="3608774"/>
            <a:ext cx="1548599" cy="3103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32F48EFA-C301-9ABD-AA62-51DEDD83EB64}"/>
              </a:ext>
            </a:extLst>
          </p:cNvPr>
          <p:cNvSpPr/>
          <p:nvPr/>
        </p:nvSpPr>
        <p:spPr>
          <a:xfrm>
            <a:off x="6208550" y="3915172"/>
            <a:ext cx="782916" cy="274972"/>
          </a:xfrm>
          <a:prstGeom prst="rect">
            <a:avLst/>
          </a:prstGeom>
          <a:solidFill>
            <a:schemeClr val="accent1">
              <a:lumMod val="1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bg2"/>
                </a:solidFill>
              </a:rPr>
              <a:t>ROM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F656183-E482-2657-722A-004F5B7068FA}"/>
              </a:ext>
            </a:extLst>
          </p:cNvPr>
          <p:cNvCxnSpPr>
            <a:cxnSpLocks/>
            <a:stCxn id="26" idx="0"/>
            <a:endCxn id="33" idx="2"/>
          </p:cNvCxnSpPr>
          <p:nvPr/>
        </p:nvCxnSpPr>
        <p:spPr>
          <a:xfrm flipH="1" flipV="1">
            <a:off x="4619698" y="3608774"/>
            <a:ext cx="1980310" cy="3063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634035E1-0AD3-785F-3BB3-777B9D6F5CEB}"/>
              </a:ext>
            </a:extLst>
          </p:cNvPr>
          <p:cNvSpPr/>
          <p:nvPr/>
        </p:nvSpPr>
        <p:spPr>
          <a:xfrm>
            <a:off x="7728191" y="3919124"/>
            <a:ext cx="1037092" cy="274972"/>
          </a:xfrm>
          <a:prstGeom prst="rect">
            <a:avLst/>
          </a:prstGeom>
          <a:solidFill>
            <a:schemeClr val="accent1">
              <a:lumMod val="1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bg2"/>
                </a:solidFill>
              </a:rPr>
              <a:t>AUX-MEM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51ED785-8FCC-A976-8568-0E8C8CB9750A}"/>
              </a:ext>
            </a:extLst>
          </p:cNvPr>
          <p:cNvCxnSpPr>
            <a:cxnSpLocks/>
            <a:stCxn id="36" idx="0"/>
            <a:endCxn id="33" idx="2"/>
          </p:cNvCxnSpPr>
          <p:nvPr/>
        </p:nvCxnSpPr>
        <p:spPr>
          <a:xfrm flipH="1" flipV="1">
            <a:off x="4619698" y="3608774"/>
            <a:ext cx="3627039" cy="3103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Rectangle 133">
            <a:extLst>
              <a:ext uri="{FF2B5EF4-FFF2-40B4-BE49-F238E27FC236}">
                <a16:creationId xmlns:a16="http://schemas.microsoft.com/office/drawing/2014/main" id="{48BE5523-801B-AC63-1EA6-C2B3C011F287}"/>
              </a:ext>
            </a:extLst>
          </p:cNvPr>
          <p:cNvSpPr/>
          <p:nvPr/>
        </p:nvSpPr>
        <p:spPr>
          <a:xfrm>
            <a:off x="475114" y="3675859"/>
            <a:ext cx="391458" cy="27497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2"/>
                </a:solidFill>
              </a:rPr>
              <a:t>C1</a:t>
            </a:r>
            <a:endParaRPr lang="es-ES" sz="1200" dirty="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C004C15E-74C3-9DF0-7C07-773129FFC119}"/>
              </a:ext>
            </a:extLst>
          </p:cNvPr>
          <p:cNvSpPr/>
          <p:nvPr/>
        </p:nvSpPr>
        <p:spPr>
          <a:xfrm>
            <a:off x="872922" y="3675859"/>
            <a:ext cx="391458" cy="27497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2"/>
                </a:solidFill>
              </a:rPr>
              <a:t>C2</a:t>
            </a:r>
            <a:endParaRPr lang="es-ES" sz="1200" dirty="0"/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3D056390-57EA-157B-D67F-3F0DF6CD3827}"/>
              </a:ext>
            </a:extLst>
          </p:cNvPr>
          <p:cNvSpPr/>
          <p:nvPr/>
        </p:nvSpPr>
        <p:spPr>
          <a:xfrm>
            <a:off x="475114" y="4215158"/>
            <a:ext cx="8294414" cy="308238"/>
          </a:xfrm>
          <a:prstGeom prst="rect">
            <a:avLst/>
          </a:prstGeom>
          <a:solidFill>
            <a:schemeClr val="accent1">
              <a:lumMod val="1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 smtClean="0">
                <a:solidFill>
                  <a:schemeClr val="bg2"/>
                </a:solidFill>
              </a:rPr>
              <a:t>PC</a:t>
            </a:r>
            <a:endParaRPr lang="ro-RO" dirty="0">
              <a:solidFill>
                <a:schemeClr val="bg2"/>
              </a:solidFill>
            </a:endParaRP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45F1D13A-957C-BFD2-2C70-AE582B5CF04B}"/>
              </a:ext>
            </a:extLst>
          </p:cNvPr>
          <p:cNvSpPr/>
          <p:nvPr/>
        </p:nvSpPr>
        <p:spPr>
          <a:xfrm>
            <a:off x="470870" y="2990336"/>
            <a:ext cx="1386093" cy="308238"/>
          </a:xfrm>
          <a:prstGeom prst="rect">
            <a:avLst/>
          </a:prstGeom>
          <a:solidFill>
            <a:schemeClr val="accent1">
              <a:lumMod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</a:rPr>
              <a:t>DDNS</a:t>
            </a:r>
            <a:endParaRPr lang="ro-RO" dirty="0">
              <a:solidFill>
                <a:schemeClr val="bg2"/>
              </a:solidFill>
            </a:endParaRPr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051C487E-DB77-93A3-2EDA-922236558891}"/>
              </a:ext>
            </a:extLst>
          </p:cNvPr>
          <p:cNvSpPr/>
          <p:nvPr/>
        </p:nvSpPr>
        <p:spPr>
          <a:xfrm>
            <a:off x="29840" y="4215158"/>
            <a:ext cx="391458" cy="308238"/>
          </a:xfrm>
          <a:prstGeom prst="rect">
            <a:avLst/>
          </a:prstGeom>
          <a:solidFill>
            <a:schemeClr val="accent1">
              <a:lumMod val="1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chemeClr val="bg2"/>
                </a:solidFill>
              </a:rPr>
              <a:t>L0</a:t>
            </a:r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116C16EA-5239-FB6E-723B-B8F92F2E542A}"/>
              </a:ext>
            </a:extLst>
          </p:cNvPr>
          <p:cNvSpPr/>
          <p:nvPr/>
        </p:nvSpPr>
        <p:spPr>
          <a:xfrm>
            <a:off x="29840" y="3296975"/>
            <a:ext cx="391458" cy="30823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chemeClr val="bg2"/>
                </a:solidFill>
              </a:rPr>
              <a:t>L1</a:t>
            </a:r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065F185F-F24E-A9CD-B625-E4C64957EC37}"/>
              </a:ext>
            </a:extLst>
          </p:cNvPr>
          <p:cNvSpPr/>
          <p:nvPr/>
        </p:nvSpPr>
        <p:spPr>
          <a:xfrm>
            <a:off x="29840" y="2993838"/>
            <a:ext cx="391458" cy="308238"/>
          </a:xfrm>
          <a:prstGeom prst="rect">
            <a:avLst/>
          </a:prstGeom>
          <a:solidFill>
            <a:schemeClr val="accent1">
              <a:lumMod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chemeClr val="bg2"/>
                </a:solidFill>
              </a:rPr>
              <a:t>L2</a:t>
            </a:r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805B606C-B782-983C-18E1-1A8EBED06876}"/>
              </a:ext>
            </a:extLst>
          </p:cNvPr>
          <p:cNvSpPr/>
          <p:nvPr/>
        </p:nvSpPr>
        <p:spPr>
          <a:xfrm>
            <a:off x="29840" y="2271138"/>
            <a:ext cx="391458" cy="30823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chemeClr val="bg2"/>
                </a:solidFill>
              </a:rPr>
              <a:t>L3</a:t>
            </a:r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74DB596E-C3A2-0DA0-C2EF-AA4CDECED16E}"/>
              </a:ext>
            </a:extLst>
          </p:cNvPr>
          <p:cNvSpPr/>
          <p:nvPr/>
        </p:nvSpPr>
        <p:spPr>
          <a:xfrm>
            <a:off x="29840" y="1793545"/>
            <a:ext cx="391458" cy="30823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chemeClr val="bg2"/>
                </a:solidFill>
              </a:rPr>
              <a:t>L4</a:t>
            </a:r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F922942B-BB18-F129-537C-B0C4FDA72FB8}"/>
              </a:ext>
            </a:extLst>
          </p:cNvPr>
          <p:cNvSpPr/>
          <p:nvPr/>
        </p:nvSpPr>
        <p:spPr>
          <a:xfrm>
            <a:off x="29840" y="1307650"/>
            <a:ext cx="391458" cy="308238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chemeClr val="bg2"/>
                </a:solidFill>
              </a:rPr>
              <a:t>L5</a:t>
            </a:r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6606E8F5-1655-E049-4272-EEEBC952E9D1}"/>
              </a:ext>
            </a:extLst>
          </p:cNvPr>
          <p:cNvSpPr/>
          <p:nvPr/>
        </p:nvSpPr>
        <p:spPr>
          <a:xfrm>
            <a:off x="470870" y="2274199"/>
            <a:ext cx="4841063" cy="30823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 smtClean="0">
                <a:solidFill>
                  <a:schemeClr val="bg2"/>
                </a:solidFill>
              </a:rPr>
              <a:t>LABVIEW</a:t>
            </a:r>
            <a:endParaRPr lang="ro-RO" dirty="0">
              <a:solidFill>
                <a:schemeClr val="bg2"/>
              </a:solidFill>
            </a:endParaRPr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A69B55B6-DDF5-11FE-01CF-A2E6637378B9}"/>
              </a:ext>
            </a:extLst>
          </p:cNvPr>
          <p:cNvSpPr/>
          <p:nvPr/>
        </p:nvSpPr>
        <p:spPr>
          <a:xfrm>
            <a:off x="29840" y="802608"/>
            <a:ext cx="391458" cy="308238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chemeClr val="bg2"/>
                </a:solidFill>
              </a:rPr>
              <a:t>L6</a:t>
            </a:r>
          </a:p>
        </p:txBody>
      </p:sp>
      <p:sp>
        <p:nvSpPr>
          <p:cNvPr id="290" name="Rectangle 289">
            <a:extLst>
              <a:ext uri="{FF2B5EF4-FFF2-40B4-BE49-F238E27FC236}">
                <a16:creationId xmlns:a16="http://schemas.microsoft.com/office/drawing/2014/main" id="{F906D713-4F75-B0BB-3DF6-CB29EF515EC2}"/>
              </a:ext>
            </a:extLst>
          </p:cNvPr>
          <p:cNvSpPr/>
          <p:nvPr/>
        </p:nvSpPr>
        <p:spPr>
          <a:xfrm>
            <a:off x="480476" y="793619"/>
            <a:ext cx="927048" cy="308238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 smtClean="0">
                <a:solidFill>
                  <a:schemeClr val="bg2"/>
                </a:solidFill>
              </a:rPr>
              <a:t>MQ-2</a:t>
            </a:r>
            <a:endParaRPr lang="es-ES" dirty="0">
              <a:solidFill>
                <a:schemeClr val="bg2"/>
              </a:solidFill>
            </a:endParaRPr>
          </a:p>
        </p:txBody>
      </p:sp>
      <p:sp>
        <p:nvSpPr>
          <p:cNvPr id="298" name="Rectangle 297">
            <a:extLst>
              <a:ext uri="{FF2B5EF4-FFF2-40B4-BE49-F238E27FC236}">
                <a16:creationId xmlns:a16="http://schemas.microsoft.com/office/drawing/2014/main" id="{97062209-9244-AB10-A607-819520D88256}"/>
              </a:ext>
            </a:extLst>
          </p:cNvPr>
          <p:cNvSpPr/>
          <p:nvPr/>
        </p:nvSpPr>
        <p:spPr>
          <a:xfrm>
            <a:off x="8167629" y="790007"/>
            <a:ext cx="572273" cy="308238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200" dirty="0" smtClean="0">
                <a:solidFill>
                  <a:schemeClr val="bg2"/>
                </a:solidFill>
              </a:rPr>
              <a:t>LDR</a:t>
            </a:r>
            <a:endParaRPr lang="es-ES" sz="12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496239-4493-7184-FEB1-11632EC7F6F9}"/>
              </a:ext>
            </a:extLst>
          </p:cNvPr>
          <p:cNvSpPr/>
          <p:nvPr/>
        </p:nvSpPr>
        <p:spPr>
          <a:xfrm>
            <a:off x="2156766" y="797324"/>
            <a:ext cx="927048" cy="308238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 smtClean="0">
                <a:solidFill>
                  <a:schemeClr val="bg2"/>
                </a:solidFill>
              </a:rPr>
              <a:t>MQ-7</a:t>
            </a:r>
            <a:endParaRPr lang="es-ES" dirty="0">
              <a:solidFill>
                <a:schemeClr val="bg2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4653E1-EF1F-8A77-31B3-8866D5571599}"/>
              </a:ext>
            </a:extLst>
          </p:cNvPr>
          <p:cNvSpPr/>
          <p:nvPr/>
        </p:nvSpPr>
        <p:spPr>
          <a:xfrm>
            <a:off x="3719666" y="812607"/>
            <a:ext cx="927048" cy="308238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 smtClean="0">
                <a:solidFill>
                  <a:schemeClr val="bg2"/>
                </a:solidFill>
              </a:rPr>
              <a:t>MQ-135</a:t>
            </a:r>
            <a:endParaRPr lang="es-ES" dirty="0">
              <a:solidFill>
                <a:schemeClr val="bg2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F23CC4-C8BE-1ACC-C6DD-A13FDBC863E9}"/>
              </a:ext>
            </a:extLst>
          </p:cNvPr>
          <p:cNvSpPr/>
          <p:nvPr/>
        </p:nvSpPr>
        <p:spPr>
          <a:xfrm>
            <a:off x="5134235" y="816638"/>
            <a:ext cx="927048" cy="308238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 smtClean="0">
                <a:solidFill>
                  <a:schemeClr val="bg2"/>
                </a:solidFill>
              </a:rPr>
              <a:t>DHT</a:t>
            </a:r>
            <a:endParaRPr lang="es-ES" dirty="0">
              <a:solidFill>
                <a:schemeClr val="bg2"/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9E0E6CC-F9A9-2EDE-ED41-8811F8A26414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2620290" y="1105562"/>
            <a:ext cx="0" cy="1603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180E3C8-8415-8B48-A496-134EE20F0020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4183190" y="1120845"/>
            <a:ext cx="0" cy="1637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807F36F-737A-3F51-6606-0D835EA9937C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5597759" y="1124876"/>
            <a:ext cx="0" cy="1793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4CE00EE7-5DEC-9E0D-9F25-93A6D0EAF2B5}"/>
              </a:ext>
            </a:extLst>
          </p:cNvPr>
          <p:cNvCxnSpPr>
            <a:cxnSpLocks/>
            <a:stCxn id="5" idx="1"/>
            <a:endCxn id="258" idx="3"/>
          </p:cNvCxnSpPr>
          <p:nvPr/>
        </p:nvCxnSpPr>
        <p:spPr>
          <a:xfrm flipH="1">
            <a:off x="5311933" y="2425257"/>
            <a:ext cx="2067257" cy="30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Rectangle 157">
            <a:extLst>
              <a:ext uri="{FF2B5EF4-FFF2-40B4-BE49-F238E27FC236}">
                <a16:creationId xmlns:a16="http://schemas.microsoft.com/office/drawing/2014/main" id="{066F8F86-5202-1DD5-546F-D5387ACF19F5}"/>
              </a:ext>
            </a:extLst>
          </p:cNvPr>
          <p:cNvSpPr/>
          <p:nvPr/>
        </p:nvSpPr>
        <p:spPr>
          <a:xfrm>
            <a:off x="2195067" y="2987869"/>
            <a:ext cx="1386093" cy="308238"/>
          </a:xfrm>
          <a:prstGeom prst="rect">
            <a:avLst/>
          </a:prstGeom>
          <a:solidFill>
            <a:schemeClr val="accent1">
              <a:lumMod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</a:rPr>
              <a:t>VPN</a:t>
            </a:r>
            <a:endParaRPr lang="ro-RO" dirty="0">
              <a:solidFill>
                <a:schemeClr val="bg2"/>
              </a:solidFill>
            </a:endParaRP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359847BB-51D6-88DA-1C97-0E8585AA9EDA}"/>
              </a:ext>
            </a:extLst>
          </p:cNvPr>
          <p:cNvSpPr/>
          <p:nvPr/>
        </p:nvSpPr>
        <p:spPr>
          <a:xfrm>
            <a:off x="3925840" y="2975407"/>
            <a:ext cx="1386093" cy="308238"/>
          </a:xfrm>
          <a:prstGeom prst="rect">
            <a:avLst/>
          </a:prstGeom>
          <a:solidFill>
            <a:schemeClr val="accent1">
              <a:lumMod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</a:rPr>
              <a:t>SOFTWARE</a:t>
            </a:r>
            <a:endParaRPr lang="ro-RO" dirty="0">
              <a:solidFill>
                <a:schemeClr val="bg2"/>
              </a:solidFill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76DD145D-E970-70DC-5F18-20236D9EB244}"/>
              </a:ext>
            </a:extLst>
          </p:cNvPr>
          <p:cNvSpPr/>
          <p:nvPr/>
        </p:nvSpPr>
        <p:spPr>
          <a:xfrm>
            <a:off x="7379190" y="2979791"/>
            <a:ext cx="1386093" cy="308238"/>
          </a:xfrm>
          <a:prstGeom prst="rect">
            <a:avLst/>
          </a:prstGeom>
          <a:solidFill>
            <a:schemeClr val="accent1">
              <a:lumMod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0149BE8B-2375-6F97-4712-49BF7878BB59}"/>
              </a:ext>
            </a:extLst>
          </p:cNvPr>
          <p:cNvSpPr/>
          <p:nvPr/>
        </p:nvSpPr>
        <p:spPr>
          <a:xfrm>
            <a:off x="5699609" y="2975407"/>
            <a:ext cx="1386093" cy="308238"/>
          </a:xfrm>
          <a:prstGeom prst="rect">
            <a:avLst/>
          </a:prstGeom>
          <a:solidFill>
            <a:schemeClr val="accent1">
              <a:lumMod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</a:rPr>
              <a:t>BAZA DATE</a:t>
            </a:r>
            <a:endParaRPr lang="ro-RO" dirty="0">
              <a:solidFill>
                <a:schemeClr val="bg2"/>
              </a:solidFill>
            </a:endParaRPr>
          </a:p>
        </p:txBody>
      </p: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EBF1B9C4-0E3C-98B9-61F0-BE6F3EA80945}"/>
              </a:ext>
            </a:extLst>
          </p:cNvPr>
          <p:cNvCxnSpPr>
            <a:cxnSpLocks/>
          </p:cNvCxnSpPr>
          <p:nvPr/>
        </p:nvCxnSpPr>
        <p:spPr>
          <a:xfrm>
            <a:off x="4193119" y="2579376"/>
            <a:ext cx="0" cy="39603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04F9DB4D-7F46-0384-76CD-B97D0F710D5E}"/>
              </a:ext>
            </a:extLst>
          </p:cNvPr>
          <p:cNvCxnSpPr>
            <a:cxnSpLocks/>
          </p:cNvCxnSpPr>
          <p:nvPr/>
        </p:nvCxnSpPr>
        <p:spPr>
          <a:xfrm flipV="1">
            <a:off x="4982135" y="2579376"/>
            <a:ext cx="0" cy="39603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99E0E6CC-F9A9-2EDE-ED41-8811F8A26414}"/>
              </a:ext>
            </a:extLst>
          </p:cNvPr>
          <p:cNvCxnSpPr>
            <a:cxnSpLocks/>
          </p:cNvCxnSpPr>
          <p:nvPr/>
        </p:nvCxnSpPr>
        <p:spPr>
          <a:xfrm>
            <a:off x="920518" y="1124766"/>
            <a:ext cx="0" cy="1603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1807F36F-737A-3F51-6606-0D835EA9937C}"/>
              </a:ext>
            </a:extLst>
          </p:cNvPr>
          <p:cNvCxnSpPr>
            <a:cxnSpLocks/>
          </p:cNvCxnSpPr>
          <p:nvPr/>
        </p:nvCxnSpPr>
        <p:spPr>
          <a:xfrm>
            <a:off x="7197959" y="1120845"/>
            <a:ext cx="0" cy="1793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1807F36F-737A-3F51-6606-0D835EA9937C}"/>
              </a:ext>
            </a:extLst>
          </p:cNvPr>
          <p:cNvCxnSpPr>
            <a:cxnSpLocks/>
          </p:cNvCxnSpPr>
          <p:nvPr/>
        </p:nvCxnSpPr>
        <p:spPr>
          <a:xfrm>
            <a:off x="8438437" y="1120845"/>
            <a:ext cx="0" cy="1793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ectangle 95">
            <a:extLst>
              <a:ext uri="{FF2B5EF4-FFF2-40B4-BE49-F238E27FC236}">
                <a16:creationId xmlns:a16="http://schemas.microsoft.com/office/drawing/2014/main" id="{2E76D30B-C5A0-3927-6C6D-CFC3DC5C2669}"/>
              </a:ext>
            </a:extLst>
          </p:cNvPr>
          <p:cNvSpPr/>
          <p:nvPr/>
        </p:nvSpPr>
        <p:spPr>
          <a:xfrm>
            <a:off x="1264380" y="1798055"/>
            <a:ext cx="677145" cy="31179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 smtClean="0">
                <a:solidFill>
                  <a:schemeClr val="bg2"/>
                </a:solidFill>
              </a:rPr>
              <a:t>SMK</a:t>
            </a:r>
            <a:endParaRPr lang="es-ES" dirty="0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2E76D30B-C5A0-3927-6C6D-CFC3DC5C2669}"/>
              </a:ext>
            </a:extLst>
          </p:cNvPr>
          <p:cNvSpPr/>
          <p:nvPr/>
        </p:nvSpPr>
        <p:spPr>
          <a:xfrm>
            <a:off x="2051866" y="1798055"/>
            <a:ext cx="677145" cy="31179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 smtClean="0">
                <a:solidFill>
                  <a:schemeClr val="bg2"/>
                </a:solidFill>
              </a:rPr>
              <a:t>MTH</a:t>
            </a:r>
            <a:endParaRPr lang="es-ES" dirty="0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2E76D30B-C5A0-3927-6C6D-CFC3DC5C2669}"/>
              </a:ext>
            </a:extLst>
          </p:cNvPr>
          <p:cNvSpPr/>
          <p:nvPr/>
        </p:nvSpPr>
        <p:spPr>
          <a:xfrm>
            <a:off x="2843993" y="1793830"/>
            <a:ext cx="677145" cy="31179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 smtClean="0">
                <a:solidFill>
                  <a:schemeClr val="bg2"/>
                </a:solidFill>
              </a:rPr>
              <a:t>CO2</a:t>
            </a:r>
            <a:endParaRPr lang="es-ES" dirty="0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2E76D30B-C5A0-3927-6C6D-CFC3DC5C2669}"/>
              </a:ext>
            </a:extLst>
          </p:cNvPr>
          <p:cNvSpPr/>
          <p:nvPr/>
        </p:nvSpPr>
        <p:spPr>
          <a:xfrm>
            <a:off x="3637503" y="1798340"/>
            <a:ext cx="677145" cy="31179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 smtClean="0">
                <a:solidFill>
                  <a:schemeClr val="bg2"/>
                </a:solidFill>
              </a:rPr>
              <a:t>CO</a:t>
            </a:r>
            <a:endParaRPr lang="es-ES" dirty="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2E76D30B-C5A0-3927-6C6D-CFC3DC5C2669}"/>
              </a:ext>
            </a:extLst>
          </p:cNvPr>
          <p:cNvSpPr/>
          <p:nvPr/>
        </p:nvSpPr>
        <p:spPr>
          <a:xfrm>
            <a:off x="4424989" y="1798340"/>
            <a:ext cx="677145" cy="31179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 smtClean="0">
                <a:solidFill>
                  <a:schemeClr val="bg2"/>
                </a:solidFill>
              </a:rPr>
              <a:t>VOC</a:t>
            </a:r>
            <a:endParaRPr lang="es-ES" dirty="0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2E76D30B-C5A0-3927-6C6D-CFC3DC5C2669}"/>
              </a:ext>
            </a:extLst>
          </p:cNvPr>
          <p:cNvSpPr/>
          <p:nvPr/>
        </p:nvSpPr>
        <p:spPr>
          <a:xfrm>
            <a:off x="5207834" y="1791764"/>
            <a:ext cx="726717" cy="31179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 smtClean="0">
                <a:solidFill>
                  <a:schemeClr val="bg2"/>
                </a:solidFill>
              </a:rPr>
              <a:t>LIGHT</a:t>
            </a:r>
            <a:endParaRPr lang="es-ES" dirty="0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2E76D30B-C5A0-3927-6C6D-CFC3DC5C2669}"/>
              </a:ext>
            </a:extLst>
          </p:cNvPr>
          <p:cNvSpPr/>
          <p:nvPr/>
        </p:nvSpPr>
        <p:spPr>
          <a:xfrm>
            <a:off x="6023057" y="1785712"/>
            <a:ext cx="677145" cy="31179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 smtClean="0">
                <a:solidFill>
                  <a:schemeClr val="bg2"/>
                </a:solidFill>
              </a:rPr>
              <a:t>TEMP</a:t>
            </a:r>
            <a:endParaRPr lang="es-ES" dirty="0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2E76D30B-C5A0-3927-6C6D-CFC3DC5C2669}"/>
              </a:ext>
            </a:extLst>
          </p:cNvPr>
          <p:cNvSpPr/>
          <p:nvPr/>
        </p:nvSpPr>
        <p:spPr>
          <a:xfrm>
            <a:off x="6788708" y="1787781"/>
            <a:ext cx="677145" cy="31179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 smtClean="0">
                <a:solidFill>
                  <a:schemeClr val="bg2"/>
                </a:solidFill>
              </a:rPr>
              <a:t>HUM</a:t>
            </a:r>
            <a:endParaRPr lang="es-ES" dirty="0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2E76D30B-C5A0-3927-6C6D-CFC3DC5C2669}"/>
              </a:ext>
            </a:extLst>
          </p:cNvPr>
          <p:cNvSpPr/>
          <p:nvPr/>
        </p:nvSpPr>
        <p:spPr>
          <a:xfrm>
            <a:off x="7587653" y="1775258"/>
            <a:ext cx="1159951" cy="31179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 smtClean="0">
                <a:solidFill>
                  <a:schemeClr val="bg2"/>
                </a:solidFill>
              </a:rPr>
              <a:t>AQI</a:t>
            </a:r>
            <a:endParaRPr lang="es-ES" dirty="0"/>
          </a:p>
        </p:txBody>
      </p: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99E0E6CC-F9A9-2EDE-ED41-8811F8A26414}"/>
              </a:ext>
            </a:extLst>
          </p:cNvPr>
          <p:cNvCxnSpPr>
            <a:cxnSpLocks/>
          </p:cNvCxnSpPr>
          <p:nvPr/>
        </p:nvCxnSpPr>
        <p:spPr>
          <a:xfrm>
            <a:off x="2950841" y="2110820"/>
            <a:ext cx="0" cy="1603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99E0E6CC-F9A9-2EDE-ED41-8811F8A26414}"/>
              </a:ext>
            </a:extLst>
          </p:cNvPr>
          <p:cNvCxnSpPr>
            <a:cxnSpLocks/>
          </p:cNvCxnSpPr>
          <p:nvPr/>
        </p:nvCxnSpPr>
        <p:spPr>
          <a:xfrm>
            <a:off x="4758920" y="1633227"/>
            <a:ext cx="0" cy="1603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47213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B55AE89-02D7-AFCF-35F3-6FA230DA3805}"/>
              </a:ext>
            </a:extLst>
          </p:cNvPr>
          <p:cNvSpPr/>
          <p:nvPr/>
        </p:nvSpPr>
        <p:spPr>
          <a:xfrm>
            <a:off x="481098" y="3841410"/>
            <a:ext cx="620357" cy="273554"/>
          </a:xfrm>
          <a:prstGeom prst="rect">
            <a:avLst/>
          </a:prstGeom>
          <a:solidFill>
            <a:srgbClr val="2C2A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chemeClr val="bg2"/>
                </a:solidFill>
              </a:rPr>
              <a:t>DHT</a:t>
            </a:r>
            <a:endParaRPr lang="es-ES" dirty="0">
              <a:solidFill>
                <a:schemeClr val="bg2"/>
              </a:solidFill>
            </a:endParaRP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AA5FB6DF-E0C6-A36A-65C5-25C34C7C896C}"/>
              </a:ext>
            </a:extLst>
          </p:cNvPr>
          <p:cNvSpPr/>
          <p:nvPr/>
        </p:nvSpPr>
        <p:spPr>
          <a:xfrm>
            <a:off x="481098" y="4093974"/>
            <a:ext cx="620357" cy="273554"/>
          </a:xfrm>
          <a:prstGeom prst="rect">
            <a:avLst/>
          </a:prstGeom>
          <a:solidFill>
            <a:srgbClr val="667E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chemeClr val="bg2"/>
                </a:solidFill>
              </a:rPr>
              <a:t>Praf</a:t>
            </a:r>
            <a:endParaRPr lang="es-ES" dirty="0">
              <a:solidFill>
                <a:schemeClr val="bg2"/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C8C993FC-C236-98D0-A69F-D8BB789869D7}"/>
              </a:ext>
            </a:extLst>
          </p:cNvPr>
          <p:cNvSpPr/>
          <p:nvPr/>
        </p:nvSpPr>
        <p:spPr>
          <a:xfrm>
            <a:off x="481097" y="4357240"/>
            <a:ext cx="620357" cy="273554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chemeClr val="bg2"/>
                </a:solidFill>
              </a:rPr>
              <a:t>O2</a:t>
            </a:r>
            <a:endParaRPr lang="es-ES" dirty="0">
              <a:solidFill>
                <a:schemeClr val="bg2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2B68A4-334D-11C9-E0BF-5FAE2E02502D}"/>
              </a:ext>
            </a:extLst>
          </p:cNvPr>
          <p:cNvSpPr/>
          <p:nvPr/>
        </p:nvSpPr>
        <p:spPr>
          <a:xfrm>
            <a:off x="1300814" y="3779631"/>
            <a:ext cx="837586" cy="392483"/>
          </a:xfrm>
          <a:prstGeom prst="rect">
            <a:avLst/>
          </a:prstGeom>
          <a:solidFill>
            <a:srgbClr val="2C2A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chemeClr val="bg2"/>
                </a:solidFill>
              </a:rPr>
              <a:t>ESP32</a:t>
            </a:r>
            <a:endParaRPr lang="es-ES" dirty="0">
              <a:solidFill>
                <a:schemeClr val="bg2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4FB6429-0629-0335-7B3E-77AADB0E5F87}"/>
              </a:ext>
            </a:extLst>
          </p:cNvPr>
          <p:cNvSpPr/>
          <p:nvPr/>
        </p:nvSpPr>
        <p:spPr>
          <a:xfrm>
            <a:off x="3747356" y="4048579"/>
            <a:ext cx="1832523" cy="392483"/>
          </a:xfrm>
          <a:prstGeom prst="rect">
            <a:avLst/>
          </a:prstGeom>
          <a:solidFill>
            <a:srgbClr val="2C2A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</a:rPr>
              <a:t>RASPBERRY PI</a:t>
            </a:r>
            <a:endParaRPr lang="ro-RO" dirty="0">
              <a:solidFill>
                <a:schemeClr val="bg2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DF43FA6-3CA4-D9DE-99AC-ADC581F62760}"/>
              </a:ext>
            </a:extLst>
          </p:cNvPr>
          <p:cNvSpPr/>
          <p:nvPr/>
        </p:nvSpPr>
        <p:spPr>
          <a:xfrm>
            <a:off x="3082818" y="2669685"/>
            <a:ext cx="3143250" cy="308238"/>
          </a:xfrm>
          <a:prstGeom prst="rect">
            <a:avLst/>
          </a:prstGeom>
          <a:solidFill>
            <a:srgbClr val="2C2A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</a:rPr>
              <a:t>WI - FI</a:t>
            </a:r>
            <a:endParaRPr lang="ro-RO" dirty="0">
              <a:solidFill>
                <a:schemeClr val="bg2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EE81ED4-C92A-F4AC-B29F-9A1346B05880}"/>
              </a:ext>
            </a:extLst>
          </p:cNvPr>
          <p:cNvSpPr/>
          <p:nvPr/>
        </p:nvSpPr>
        <p:spPr>
          <a:xfrm>
            <a:off x="1328149" y="3504659"/>
            <a:ext cx="782916" cy="274972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chemeClr val="bg2"/>
                </a:solidFill>
              </a:rPr>
              <a:t>MQTT</a:t>
            </a:r>
            <a:endParaRPr lang="es-ES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DB62FD5-85DB-F1E8-9200-A59397AC23F1}"/>
              </a:ext>
            </a:extLst>
          </p:cNvPr>
          <p:cNvSpPr/>
          <p:nvPr/>
        </p:nvSpPr>
        <p:spPr>
          <a:xfrm>
            <a:off x="516410" y="1117615"/>
            <a:ext cx="8294414" cy="308238"/>
          </a:xfrm>
          <a:prstGeom prst="rect">
            <a:avLst/>
          </a:prstGeom>
          <a:solidFill>
            <a:srgbClr val="2C2A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chemeClr val="bg2"/>
                </a:solidFill>
              </a:rPr>
              <a:t>END USER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AFD97A83-247C-42E8-5483-C3ED9740ED9A}"/>
              </a:ext>
            </a:extLst>
          </p:cNvPr>
          <p:cNvSpPr/>
          <p:nvPr/>
        </p:nvSpPr>
        <p:spPr>
          <a:xfrm>
            <a:off x="925450" y="1427188"/>
            <a:ext cx="1588314" cy="274972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chemeClr val="bg2"/>
                </a:solidFill>
              </a:rPr>
              <a:t>WEB</a:t>
            </a:r>
            <a:endParaRPr lang="es-ES" dirty="0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8F5225B8-273F-BCEC-54FA-F257CEF64338}"/>
              </a:ext>
            </a:extLst>
          </p:cNvPr>
          <p:cNvSpPr/>
          <p:nvPr/>
        </p:nvSpPr>
        <p:spPr>
          <a:xfrm>
            <a:off x="3834148" y="1425818"/>
            <a:ext cx="1588314" cy="274972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chemeClr val="bg2"/>
                </a:solidFill>
              </a:rPr>
              <a:t>Android</a:t>
            </a:r>
            <a:endParaRPr lang="es-ES" dirty="0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589C5226-1266-ABF8-2EEA-DA7913A19F60}"/>
              </a:ext>
            </a:extLst>
          </p:cNvPr>
          <p:cNvSpPr/>
          <p:nvPr/>
        </p:nvSpPr>
        <p:spPr>
          <a:xfrm>
            <a:off x="6831786" y="1424317"/>
            <a:ext cx="1588314" cy="274972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chemeClr val="bg2"/>
                </a:solidFill>
              </a:rPr>
              <a:t>iOS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D2A9B8E-5831-2053-73C9-5202D477B8F5}"/>
              </a:ext>
            </a:extLst>
          </p:cNvPr>
          <p:cNvSpPr/>
          <p:nvPr/>
        </p:nvSpPr>
        <p:spPr>
          <a:xfrm>
            <a:off x="7142193" y="4048579"/>
            <a:ext cx="837586" cy="392483"/>
          </a:xfrm>
          <a:prstGeom prst="rect">
            <a:avLst/>
          </a:prstGeom>
          <a:solidFill>
            <a:srgbClr val="2C2A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chemeClr val="bg2"/>
                </a:solidFill>
              </a:rPr>
              <a:t>VPN</a:t>
            </a:r>
            <a:endParaRPr lang="es-ES" dirty="0">
              <a:solidFill>
                <a:schemeClr val="bg2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3F87F89-C79E-B3FC-1547-A7E48A1EFF20}"/>
              </a:ext>
            </a:extLst>
          </p:cNvPr>
          <p:cNvSpPr/>
          <p:nvPr/>
        </p:nvSpPr>
        <p:spPr>
          <a:xfrm>
            <a:off x="7142193" y="3780598"/>
            <a:ext cx="837586" cy="274972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chemeClr val="bg2"/>
                </a:solidFill>
              </a:rPr>
              <a:t>DDNS</a:t>
            </a:r>
            <a:endParaRPr lang="es-E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63AC43B-592E-8661-DFAF-07B594E27DFF}"/>
              </a:ext>
            </a:extLst>
          </p:cNvPr>
          <p:cNvSpPr/>
          <p:nvPr/>
        </p:nvSpPr>
        <p:spPr>
          <a:xfrm>
            <a:off x="481098" y="2391112"/>
            <a:ext cx="8294414" cy="274972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chemeClr val="bg2"/>
                </a:solidFill>
              </a:rPr>
              <a:t>DDNS</a:t>
            </a:r>
            <a:endParaRPr lang="es-ES" dirty="0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8D7D7090-D519-30C4-25D4-96CA343BBAD5}"/>
              </a:ext>
            </a:extLst>
          </p:cNvPr>
          <p:cNvSpPr/>
          <p:nvPr/>
        </p:nvSpPr>
        <p:spPr>
          <a:xfrm>
            <a:off x="2336307" y="3839707"/>
            <a:ext cx="620357" cy="273554"/>
          </a:xfrm>
          <a:prstGeom prst="rect">
            <a:avLst/>
          </a:prstGeom>
          <a:solidFill>
            <a:srgbClr val="2C2A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chemeClr val="bg2"/>
                </a:solidFill>
              </a:rPr>
              <a:t>CO2</a:t>
            </a:r>
            <a:endParaRPr lang="es-ES" dirty="0">
              <a:solidFill>
                <a:schemeClr val="bg2"/>
              </a:solidFill>
            </a:endParaRPr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4602A2F9-B802-8057-B613-86294979BFEA}"/>
              </a:ext>
            </a:extLst>
          </p:cNvPr>
          <p:cNvSpPr/>
          <p:nvPr/>
        </p:nvSpPr>
        <p:spPr>
          <a:xfrm>
            <a:off x="2336307" y="4092271"/>
            <a:ext cx="620357" cy="273554"/>
          </a:xfrm>
          <a:prstGeom prst="rect">
            <a:avLst/>
          </a:prstGeom>
          <a:solidFill>
            <a:srgbClr val="667E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chemeClr val="bg2"/>
                </a:solidFill>
              </a:rPr>
              <a:t>Gaze</a:t>
            </a:r>
            <a:endParaRPr lang="es-ES" dirty="0">
              <a:solidFill>
                <a:schemeClr val="bg2"/>
              </a:solidFill>
            </a:endParaRP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BED88DF8-906B-1B36-880B-263E2C8B3192}"/>
              </a:ext>
            </a:extLst>
          </p:cNvPr>
          <p:cNvSpPr/>
          <p:nvPr/>
        </p:nvSpPr>
        <p:spPr>
          <a:xfrm>
            <a:off x="2336306" y="4355537"/>
            <a:ext cx="620357" cy="273554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chemeClr val="bg2"/>
                </a:solidFill>
              </a:rPr>
              <a:t>hPa</a:t>
            </a:r>
            <a:endParaRPr lang="es-ES" dirty="0">
              <a:solidFill>
                <a:schemeClr val="bg2"/>
              </a:solidFill>
            </a:endParaRPr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DD0895FD-B6F8-3311-CD8A-91A477C4451E}"/>
              </a:ext>
            </a:extLst>
          </p:cNvPr>
          <p:cNvSpPr/>
          <p:nvPr/>
        </p:nvSpPr>
        <p:spPr>
          <a:xfrm>
            <a:off x="1361068" y="4611243"/>
            <a:ext cx="715624" cy="273554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2"/>
                </a:solidFill>
              </a:rPr>
              <a:t>RELEU</a:t>
            </a:r>
            <a:endParaRPr lang="es-ES" sz="1200" dirty="0"/>
          </a:p>
        </p:txBody>
      </p: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9631A584-CD49-FB93-8102-F42AF6605122}"/>
              </a:ext>
            </a:extLst>
          </p:cNvPr>
          <p:cNvCxnSpPr>
            <a:cxnSpLocks/>
          </p:cNvCxnSpPr>
          <p:nvPr/>
        </p:nvCxnSpPr>
        <p:spPr>
          <a:xfrm flipV="1">
            <a:off x="8487865" y="2512107"/>
            <a:ext cx="0" cy="14839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2" name="Google Shape;132;p7"/>
          <p:cNvSpPr txBox="1">
            <a:spLocks noGrp="1"/>
          </p:cNvSpPr>
          <p:nvPr>
            <p:ph type="title"/>
          </p:nvPr>
        </p:nvSpPr>
        <p:spPr>
          <a:xfrm>
            <a:off x="791276" y="211790"/>
            <a:ext cx="7696200" cy="528927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ro-RO" noProof="0" dirty="0"/>
              <a:t>Arhitectura Sistemului</a:t>
            </a:r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6960D3-9CF6-3483-F551-A71B1E2FD52E}"/>
              </a:ext>
            </a:extLst>
          </p:cNvPr>
          <p:cNvSpPr/>
          <p:nvPr/>
        </p:nvSpPr>
        <p:spPr>
          <a:xfrm>
            <a:off x="3860286" y="3773607"/>
            <a:ext cx="1588314" cy="274972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2"/>
                </a:solidFill>
              </a:rPr>
              <a:t>SISTEM DE OPERARE</a:t>
            </a:r>
            <a:endParaRPr lang="es-ES" sz="100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0B4C724-19AD-8616-956C-7B85E69E68DF}"/>
              </a:ext>
            </a:extLst>
          </p:cNvPr>
          <p:cNvCxnSpPr>
            <a:cxnSpLocks/>
            <a:stCxn id="15" idx="3"/>
            <a:endCxn id="3" idx="1"/>
          </p:cNvCxnSpPr>
          <p:nvPr/>
        </p:nvCxnSpPr>
        <p:spPr>
          <a:xfrm flipV="1">
            <a:off x="1101455" y="3975873"/>
            <a:ext cx="199359" cy="23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51FADF59-BD1C-4D6A-03D1-D117E590DC81}"/>
              </a:ext>
            </a:extLst>
          </p:cNvPr>
          <p:cNvSpPr/>
          <p:nvPr/>
        </p:nvSpPr>
        <p:spPr>
          <a:xfrm>
            <a:off x="3862362" y="3505626"/>
            <a:ext cx="837583" cy="274972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chemeClr val="bg2"/>
                </a:solidFill>
              </a:rPr>
              <a:t>RPC</a:t>
            </a:r>
            <a:endParaRPr lang="es-ES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ABFAB3D-BA1A-2E59-37DD-6E8E3F211B94}"/>
              </a:ext>
            </a:extLst>
          </p:cNvPr>
          <p:cNvCxnSpPr>
            <a:cxnSpLocks/>
          </p:cNvCxnSpPr>
          <p:nvPr/>
        </p:nvCxnSpPr>
        <p:spPr>
          <a:xfrm flipV="1">
            <a:off x="1554507" y="2663712"/>
            <a:ext cx="0" cy="8409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A918512-ACD5-9008-8B70-BF46A9182F8B}"/>
              </a:ext>
            </a:extLst>
          </p:cNvPr>
          <p:cNvCxnSpPr>
            <a:cxnSpLocks/>
          </p:cNvCxnSpPr>
          <p:nvPr/>
        </p:nvCxnSpPr>
        <p:spPr>
          <a:xfrm flipV="1">
            <a:off x="5090615" y="2975657"/>
            <a:ext cx="0" cy="8049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3EDE159-31D7-089E-862B-FE6B206D409C}"/>
              </a:ext>
            </a:extLst>
          </p:cNvPr>
          <p:cNvCxnSpPr>
            <a:cxnSpLocks/>
          </p:cNvCxnSpPr>
          <p:nvPr/>
        </p:nvCxnSpPr>
        <p:spPr>
          <a:xfrm>
            <a:off x="4264925" y="2975657"/>
            <a:ext cx="0" cy="5299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FAFC55AE-2ADE-B02F-8FFB-95D81CA56762}"/>
              </a:ext>
            </a:extLst>
          </p:cNvPr>
          <p:cNvCxnSpPr>
            <a:cxnSpLocks/>
            <a:stCxn id="128" idx="2"/>
          </p:cNvCxnSpPr>
          <p:nvPr/>
        </p:nvCxnSpPr>
        <p:spPr>
          <a:xfrm>
            <a:off x="1719607" y="1702160"/>
            <a:ext cx="0" cy="6889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1769AE48-F4EB-1CBB-2DD8-1C2AB281660A}"/>
              </a:ext>
            </a:extLst>
          </p:cNvPr>
          <p:cNvCxnSpPr>
            <a:cxnSpLocks/>
            <a:stCxn id="129" idx="2"/>
            <a:endCxn id="47" idx="0"/>
          </p:cNvCxnSpPr>
          <p:nvPr/>
        </p:nvCxnSpPr>
        <p:spPr>
          <a:xfrm>
            <a:off x="4628305" y="1700790"/>
            <a:ext cx="0" cy="6903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C66284D0-7D5C-6DBB-0D77-51B87E41EC2E}"/>
              </a:ext>
            </a:extLst>
          </p:cNvPr>
          <p:cNvCxnSpPr>
            <a:cxnSpLocks/>
          </p:cNvCxnSpPr>
          <p:nvPr/>
        </p:nvCxnSpPr>
        <p:spPr>
          <a:xfrm>
            <a:off x="7646697" y="1699289"/>
            <a:ext cx="0" cy="6918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FA580AF-5084-91A2-8897-25BC5AD76F33}"/>
              </a:ext>
            </a:extLst>
          </p:cNvPr>
          <p:cNvCxnSpPr>
            <a:cxnSpLocks/>
          </p:cNvCxnSpPr>
          <p:nvPr/>
        </p:nvCxnSpPr>
        <p:spPr>
          <a:xfrm flipH="1">
            <a:off x="7973055" y="3996044"/>
            <a:ext cx="5144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D9136DC-1425-D031-76B6-0F059D183E72}"/>
              </a:ext>
            </a:extLst>
          </p:cNvPr>
          <p:cNvCxnSpPr>
            <a:cxnSpLocks/>
          </p:cNvCxnSpPr>
          <p:nvPr/>
        </p:nvCxnSpPr>
        <p:spPr>
          <a:xfrm>
            <a:off x="5579879" y="4155144"/>
            <a:ext cx="15623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8DD07D1-0ADD-3F6B-6480-3296D2D6897B}"/>
              </a:ext>
            </a:extLst>
          </p:cNvPr>
          <p:cNvCxnSpPr>
            <a:cxnSpLocks/>
          </p:cNvCxnSpPr>
          <p:nvPr/>
        </p:nvCxnSpPr>
        <p:spPr>
          <a:xfrm flipH="1">
            <a:off x="5579879" y="4349162"/>
            <a:ext cx="15623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A189619B-8B15-CF41-4929-73D6EC1BBA0E}"/>
              </a:ext>
            </a:extLst>
          </p:cNvPr>
          <p:cNvCxnSpPr>
            <a:cxnSpLocks/>
          </p:cNvCxnSpPr>
          <p:nvPr/>
        </p:nvCxnSpPr>
        <p:spPr>
          <a:xfrm>
            <a:off x="7984007" y="3847833"/>
            <a:ext cx="14190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55883F24-2502-BB18-B1AF-A7042F09D1FB}"/>
              </a:ext>
            </a:extLst>
          </p:cNvPr>
          <p:cNvCxnSpPr>
            <a:cxnSpLocks/>
          </p:cNvCxnSpPr>
          <p:nvPr/>
        </p:nvCxnSpPr>
        <p:spPr>
          <a:xfrm flipV="1">
            <a:off x="8125915" y="2663712"/>
            <a:ext cx="0" cy="11841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6A088C6B-020E-7EB6-F368-CD407FC0BBE9}"/>
              </a:ext>
            </a:extLst>
          </p:cNvPr>
          <p:cNvCxnSpPr>
            <a:cxnSpLocks/>
            <a:stCxn id="183" idx="3"/>
          </p:cNvCxnSpPr>
          <p:nvPr/>
        </p:nvCxnSpPr>
        <p:spPr>
          <a:xfrm flipV="1">
            <a:off x="1101455" y="4132113"/>
            <a:ext cx="199359" cy="986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34902026-A9F8-D36D-90C0-A155F85E4A14}"/>
              </a:ext>
            </a:extLst>
          </p:cNvPr>
          <p:cNvCxnSpPr>
            <a:cxnSpLocks/>
            <a:stCxn id="187" idx="3"/>
          </p:cNvCxnSpPr>
          <p:nvPr/>
        </p:nvCxnSpPr>
        <p:spPr>
          <a:xfrm flipV="1">
            <a:off x="1101454" y="4162574"/>
            <a:ext cx="422546" cy="3314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5" name="Straight Arrow Connector 194">
            <a:extLst>
              <a:ext uri="{FF2B5EF4-FFF2-40B4-BE49-F238E27FC236}">
                <a16:creationId xmlns:a16="http://schemas.microsoft.com/office/drawing/2014/main" id="{B69DB815-CA2E-A750-4DA0-68C55D47AFED}"/>
              </a:ext>
            </a:extLst>
          </p:cNvPr>
          <p:cNvCxnSpPr>
            <a:cxnSpLocks/>
            <a:stCxn id="192" idx="1"/>
            <a:endCxn id="3" idx="3"/>
          </p:cNvCxnSpPr>
          <p:nvPr/>
        </p:nvCxnSpPr>
        <p:spPr>
          <a:xfrm flipH="1" flipV="1">
            <a:off x="2138400" y="3975873"/>
            <a:ext cx="197907" cy="6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68513B47-4A80-A33F-BDAC-5281B1CEE7F8}"/>
              </a:ext>
            </a:extLst>
          </p:cNvPr>
          <p:cNvCxnSpPr>
            <a:cxnSpLocks/>
            <a:stCxn id="193" idx="1"/>
          </p:cNvCxnSpPr>
          <p:nvPr/>
        </p:nvCxnSpPr>
        <p:spPr>
          <a:xfrm flipH="1" flipV="1">
            <a:off x="2144357" y="4172114"/>
            <a:ext cx="191950" cy="569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F011ACEB-C22F-26A5-AABB-B64BD681611A}"/>
              </a:ext>
            </a:extLst>
          </p:cNvPr>
          <p:cNvCxnSpPr>
            <a:cxnSpLocks/>
            <a:stCxn id="194" idx="1"/>
          </p:cNvCxnSpPr>
          <p:nvPr/>
        </p:nvCxnSpPr>
        <p:spPr>
          <a:xfrm flipH="1" flipV="1">
            <a:off x="1913761" y="4172114"/>
            <a:ext cx="422545" cy="320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5" name="Straight Arrow Connector 204">
            <a:extLst>
              <a:ext uri="{FF2B5EF4-FFF2-40B4-BE49-F238E27FC236}">
                <a16:creationId xmlns:a16="http://schemas.microsoft.com/office/drawing/2014/main" id="{4FD6C119-4C61-DE20-BDD1-62665C5A1922}"/>
              </a:ext>
            </a:extLst>
          </p:cNvPr>
          <p:cNvCxnSpPr>
            <a:cxnSpLocks/>
          </p:cNvCxnSpPr>
          <p:nvPr/>
        </p:nvCxnSpPr>
        <p:spPr>
          <a:xfrm>
            <a:off x="1884707" y="2663712"/>
            <a:ext cx="0" cy="8409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0" name="Rectangle 209">
            <a:extLst>
              <a:ext uri="{FF2B5EF4-FFF2-40B4-BE49-F238E27FC236}">
                <a16:creationId xmlns:a16="http://schemas.microsoft.com/office/drawing/2014/main" id="{A6E60B4E-225A-EC08-AF87-DC50E6423AB2}"/>
              </a:ext>
            </a:extLst>
          </p:cNvPr>
          <p:cNvSpPr/>
          <p:nvPr/>
        </p:nvSpPr>
        <p:spPr>
          <a:xfrm rot="5400000">
            <a:off x="1726098" y="2950150"/>
            <a:ext cx="571293" cy="190533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chemeClr val="bg2"/>
                </a:solidFill>
              </a:rPr>
              <a:t>RPC</a:t>
            </a:r>
            <a:endParaRPr lang="es-ES" dirty="0"/>
          </a:p>
        </p:txBody>
      </p:sp>
      <p:cxnSp>
        <p:nvCxnSpPr>
          <p:cNvPr id="212" name="Straight Arrow Connector 211">
            <a:extLst>
              <a:ext uri="{FF2B5EF4-FFF2-40B4-BE49-F238E27FC236}">
                <a16:creationId xmlns:a16="http://schemas.microsoft.com/office/drawing/2014/main" id="{164669F1-B746-0083-5EC9-52BDD913F225}"/>
              </a:ext>
            </a:extLst>
          </p:cNvPr>
          <p:cNvCxnSpPr>
            <a:cxnSpLocks/>
            <a:stCxn id="3" idx="2"/>
            <a:endCxn id="211" idx="0"/>
          </p:cNvCxnSpPr>
          <p:nvPr/>
        </p:nvCxnSpPr>
        <p:spPr>
          <a:xfrm flipH="1">
            <a:off x="1718880" y="4172114"/>
            <a:ext cx="727" cy="4391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2F0D2106-0867-9916-63CC-86971DA3C443}"/>
              </a:ext>
            </a:extLst>
          </p:cNvPr>
          <p:cNvGrpSpPr/>
          <p:nvPr/>
        </p:nvGrpSpPr>
        <p:grpSpPr>
          <a:xfrm rot="21167090" flipH="1">
            <a:off x="-1359736" y="5012217"/>
            <a:ext cx="2255027" cy="622431"/>
            <a:chOff x="6831797" y="4315899"/>
            <a:chExt cx="3227133" cy="890751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C82FE61F-30DC-6399-0A62-6C7B135A9A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6831797" y="4315899"/>
              <a:ext cx="2724237" cy="815572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7E1663BC-4FF5-CDD4-EE5A-5E083208105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>
              <a:off x="7286061" y="4446016"/>
              <a:ext cx="2319946" cy="695226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E37AE330-81C4-FB78-884C-12AE10817B2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>
              <a:off x="8058078" y="4594705"/>
              <a:ext cx="2000852" cy="611945"/>
            </a:xfrm>
            <a:prstGeom prst="rect">
              <a:avLst/>
            </a:prstGeom>
          </p:spPr>
        </p:pic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1AE897B-7875-EB9F-CF80-C1F18412CAC0}"/>
              </a:ext>
            </a:extLst>
          </p:cNvPr>
          <p:cNvGrpSpPr/>
          <p:nvPr/>
        </p:nvGrpSpPr>
        <p:grpSpPr>
          <a:xfrm rot="11700000" flipH="1">
            <a:off x="7938600" y="-70004"/>
            <a:ext cx="2254378" cy="622288"/>
            <a:chOff x="6832729" y="4316100"/>
            <a:chExt cx="3226204" cy="890547"/>
          </a:xfrm>
        </p:grpSpPr>
        <p:pic>
          <p:nvPicPr>
            <p:cNvPr id="53" name="Graphic 52">
              <a:extLst>
                <a:ext uri="{FF2B5EF4-FFF2-40B4-BE49-F238E27FC236}">
                  <a16:creationId xmlns:a16="http://schemas.microsoft.com/office/drawing/2014/main" id="{6E7721F2-0331-E43E-C497-BC3AE2F7DC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6832729" y="4316100"/>
              <a:ext cx="2724237" cy="815572"/>
            </a:xfrm>
            <a:prstGeom prst="rect">
              <a:avLst/>
            </a:prstGeom>
          </p:spPr>
        </p:pic>
        <p:pic>
          <p:nvPicPr>
            <p:cNvPr id="54" name="Graphic 53">
              <a:extLst>
                <a:ext uri="{FF2B5EF4-FFF2-40B4-BE49-F238E27FC236}">
                  <a16:creationId xmlns:a16="http://schemas.microsoft.com/office/drawing/2014/main" id="{16EA12E7-4999-5003-07A2-1C981DDCF72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>
              <a:off x="7286058" y="4446019"/>
              <a:ext cx="2319946" cy="695228"/>
            </a:xfrm>
            <a:prstGeom prst="rect">
              <a:avLst/>
            </a:prstGeom>
          </p:spPr>
        </p:pic>
        <p:pic>
          <p:nvPicPr>
            <p:cNvPr id="55" name="Graphic 54">
              <a:extLst>
                <a:ext uri="{FF2B5EF4-FFF2-40B4-BE49-F238E27FC236}">
                  <a16:creationId xmlns:a16="http://schemas.microsoft.com/office/drawing/2014/main" id="{32895A88-A5DD-CA31-EC82-98D39AE27B6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>
              <a:off x="8058080" y="4594703"/>
              <a:ext cx="2000853" cy="6119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723575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B55AE89-02D7-AFCF-35F3-6FA230DA3805}"/>
              </a:ext>
            </a:extLst>
          </p:cNvPr>
          <p:cNvSpPr/>
          <p:nvPr/>
        </p:nvSpPr>
        <p:spPr>
          <a:xfrm>
            <a:off x="4054666" y="1826167"/>
            <a:ext cx="838200" cy="273554"/>
          </a:xfrm>
          <a:prstGeom prst="rect">
            <a:avLst/>
          </a:prstGeom>
          <a:solidFill>
            <a:srgbClr val="2C2A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 smtClean="0">
                <a:solidFill>
                  <a:schemeClr val="bg2"/>
                </a:solidFill>
              </a:rPr>
              <a:t>MQ-2</a:t>
            </a:r>
            <a:endParaRPr lang="es-ES" dirty="0">
              <a:solidFill>
                <a:schemeClr val="bg2"/>
              </a:solidFill>
            </a:endParaRPr>
          </a:p>
        </p:txBody>
      </p:sp>
      <p:sp>
        <p:nvSpPr>
          <p:cNvPr id="132" name="Google Shape;132;p7"/>
          <p:cNvSpPr txBox="1">
            <a:spLocks noGrp="1"/>
          </p:cNvSpPr>
          <p:nvPr>
            <p:ph type="title"/>
          </p:nvPr>
        </p:nvSpPr>
        <p:spPr>
          <a:xfrm>
            <a:off x="791276" y="211790"/>
            <a:ext cx="7696200" cy="528927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ro-RO" noProof="0" dirty="0"/>
              <a:t>Arhitectura Sistemului</a:t>
            </a:r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F0D2106-0867-9916-63CC-86971DA3C443}"/>
              </a:ext>
            </a:extLst>
          </p:cNvPr>
          <p:cNvGrpSpPr/>
          <p:nvPr/>
        </p:nvGrpSpPr>
        <p:grpSpPr>
          <a:xfrm rot="21248859" flipH="1">
            <a:off x="-938828" y="4832284"/>
            <a:ext cx="2255027" cy="622431"/>
            <a:chOff x="6831797" y="4315899"/>
            <a:chExt cx="3227133" cy="890751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C82FE61F-30DC-6399-0A62-6C7B135A9A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6831797" y="4315899"/>
              <a:ext cx="2724237" cy="815572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7E1663BC-4FF5-CDD4-EE5A-5E083208105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>
              <a:off x="7286061" y="4446016"/>
              <a:ext cx="2319946" cy="695226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E37AE330-81C4-FB78-884C-12AE10817B2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>
              <a:off x="8058078" y="4594705"/>
              <a:ext cx="2000852" cy="611945"/>
            </a:xfrm>
            <a:prstGeom prst="rect">
              <a:avLst/>
            </a:prstGeom>
          </p:spPr>
        </p:pic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1AE897B-7875-EB9F-CF80-C1F18412CAC0}"/>
              </a:ext>
            </a:extLst>
          </p:cNvPr>
          <p:cNvGrpSpPr/>
          <p:nvPr/>
        </p:nvGrpSpPr>
        <p:grpSpPr>
          <a:xfrm rot="11700000" flipH="1">
            <a:off x="7486994" y="-261729"/>
            <a:ext cx="2254378" cy="622288"/>
            <a:chOff x="6832729" y="4316100"/>
            <a:chExt cx="3226204" cy="890547"/>
          </a:xfrm>
        </p:grpSpPr>
        <p:pic>
          <p:nvPicPr>
            <p:cNvPr id="53" name="Graphic 52">
              <a:extLst>
                <a:ext uri="{FF2B5EF4-FFF2-40B4-BE49-F238E27FC236}">
                  <a16:creationId xmlns:a16="http://schemas.microsoft.com/office/drawing/2014/main" id="{6E7721F2-0331-E43E-C497-BC3AE2F7DC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6832729" y="4316100"/>
              <a:ext cx="2724237" cy="815572"/>
            </a:xfrm>
            <a:prstGeom prst="rect">
              <a:avLst/>
            </a:prstGeom>
          </p:spPr>
        </p:pic>
        <p:pic>
          <p:nvPicPr>
            <p:cNvPr id="54" name="Graphic 53">
              <a:extLst>
                <a:ext uri="{FF2B5EF4-FFF2-40B4-BE49-F238E27FC236}">
                  <a16:creationId xmlns:a16="http://schemas.microsoft.com/office/drawing/2014/main" id="{16EA12E7-4999-5003-07A2-1C981DDCF72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>
              <a:off x="7286058" y="4446019"/>
              <a:ext cx="2319946" cy="695228"/>
            </a:xfrm>
            <a:prstGeom prst="rect">
              <a:avLst/>
            </a:prstGeom>
          </p:spPr>
        </p:pic>
        <p:pic>
          <p:nvPicPr>
            <p:cNvPr id="55" name="Graphic 54">
              <a:extLst>
                <a:ext uri="{FF2B5EF4-FFF2-40B4-BE49-F238E27FC236}">
                  <a16:creationId xmlns:a16="http://schemas.microsoft.com/office/drawing/2014/main" id="{32895A88-A5DD-CA31-EC82-98D39AE27B6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>
              <a:off x="8058080" y="4594703"/>
              <a:ext cx="2000853" cy="611944"/>
            </a:xfrm>
            <a:prstGeom prst="rect">
              <a:avLst/>
            </a:prstGeom>
          </p:spPr>
        </p:pic>
      </p:grpSp>
      <p:sp>
        <p:nvSpPr>
          <p:cNvPr id="58" name="Rectangle 57">
            <a:extLst>
              <a:ext uri="{FF2B5EF4-FFF2-40B4-BE49-F238E27FC236}">
                <a16:creationId xmlns:a16="http://schemas.microsoft.com/office/drawing/2014/main" id="{1B55AE89-02D7-AFCF-35F3-6FA230DA3805}"/>
              </a:ext>
            </a:extLst>
          </p:cNvPr>
          <p:cNvSpPr/>
          <p:nvPr/>
        </p:nvSpPr>
        <p:spPr>
          <a:xfrm>
            <a:off x="4054666" y="2303995"/>
            <a:ext cx="838200" cy="273554"/>
          </a:xfrm>
          <a:prstGeom prst="rect">
            <a:avLst/>
          </a:prstGeom>
          <a:solidFill>
            <a:srgbClr val="2C2A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 smtClean="0">
                <a:solidFill>
                  <a:schemeClr val="bg2"/>
                </a:solidFill>
              </a:rPr>
              <a:t>MQ-7</a:t>
            </a:r>
            <a:endParaRPr lang="es-ES" dirty="0">
              <a:solidFill>
                <a:schemeClr val="bg2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B55AE89-02D7-AFCF-35F3-6FA230DA3805}"/>
              </a:ext>
            </a:extLst>
          </p:cNvPr>
          <p:cNvSpPr/>
          <p:nvPr/>
        </p:nvSpPr>
        <p:spPr>
          <a:xfrm>
            <a:off x="4054666" y="2781823"/>
            <a:ext cx="838200" cy="273554"/>
          </a:xfrm>
          <a:prstGeom prst="rect">
            <a:avLst/>
          </a:prstGeom>
          <a:solidFill>
            <a:srgbClr val="2C2A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 smtClean="0">
                <a:solidFill>
                  <a:schemeClr val="bg2"/>
                </a:solidFill>
              </a:rPr>
              <a:t>MQ-135</a:t>
            </a:r>
            <a:endParaRPr lang="es-ES" dirty="0">
              <a:solidFill>
                <a:schemeClr val="bg2"/>
              </a:solidFill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164669F1-B746-0083-5EC9-52BDD913F225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4892866" y="1962944"/>
            <a:ext cx="3455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164669F1-B746-0083-5EC9-52BDD913F225}"/>
              </a:ext>
            </a:extLst>
          </p:cNvPr>
          <p:cNvCxnSpPr>
            <a:cxnSpLocks/>
            <a:stCxn id="58" idx="3"/>
          </p:cNvCxnSpPr>
          <p:nvPr/>
        </p:nvCxnSpPr>
        <p:spPr>
          <a:xfrm>
            <a:off x="4892866" y="2440772"/>
            <a:ext cx="3455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164669F1-B746-0083-5EC9-52BDD913F225}"/>
              </a:ext>
            </a:extLst>
          </p:cNvPr>
          <p:cNvCxnSpPr>
            <a:cxnSpLocks/>
            <a:stCxn id="59" idx="3"/>
          </p:cNvCxnSpPr>
          <p:nvPr/>
        </p:nvCxnSpPr>
        <p:spPr>
          <a:xfrm>
            <a:off x="4892866" y="2918600"/>
            <a:ext cx="3455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7A2B68A4-334D-11C9-E0BF-5FAE2E02502D}"/>
              </a:ext>
            </a:extLst>
          </p:cNvPr>
          <p:cNvSpPr/>
          <p:nvPr/>
        </p:nvSpPr>
        <p:spPr>
          <a:xfrm>
            <a:off x="2601647" y="3663581"/>
            <a:ext cx="837586" cy="392483"/>
          </a:xfrm>
          <a:prstGeom prst="rect">
            <a:avLst/>
          </a:prstGeom>
          <a:solidFill>
            <a:srgbClr val="2C2A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chemeClr val="bg2"/>
                </a:solidFill>
              </a:rPr>
              <a:t>ESP32</a:t>
            </a:r>
            <a:endParaRPr lang="es-ES" dirty="0">
              <a:solidFill>
                <a:schemeClr val="bg2"/>
              </a:solidFill>
            </a:endParaRPr>
          </a:p>
        </p:txBody>
      </p:sp>
      <p:pic>
        <p:nvPicPr>
          <p:cNvPr id="1026" name="Picture 2" descr="Picture 5 of 6"/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6" t="12226" r="14444" b="12268"/>
          <a:stretch/>
        </p:blipFill>
        <p:spPr bwMode="auto">
          <a:xfrm>
            <a:off x="5393974" y="1547136"/>
            <a:ext cx="1767385" cy="1828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5" name="Rectangle 84">
            <a:extLst>
              <a:ext uri="{FF2B5EF4-FFF2-40B4-BE49-F238E27FC236}">
                <a16:creationId xmlns:a16="http://schemas.microsoft.com/office/drawing/2014/main" id="{DD0895FD-B6F8-3311-CD8A-91A477C4451E}"/>
              </a:ext>
            </a:extLst>
          </p:cNvPr>
          <p:cNvSpPr/>
          <p:nvPr/>
        </p:nvSpPr>
        <p:spPr>
          <a:xfrm>
            <a:off x="4049570" y="3253658"/>
            <a:ext cx="843295" cy="279545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200" dirty="0" smtClean="0">
                <a:solidFill>
                  <a:schemeClr val="bg2"/>
                </a:solidFill>
              </a:rPr>
              <a:t>DHT</a:t>
            </a:r>
            <a:endParaRPr lang="es-ES" sz="1200" dirty="0"/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164669F1-B746-0083-5EC9-52BDD913F225}"/>
              </a:ext>
            </a:extLst>
          </p:cNvPr>
          <p:cNvCxnSpPr>
            <a:cxnSpLocks/>
            <a:stCxn id="85" idx="3"/>
          </p:cNvCxnSpPr>
          <p:nvPr/>
        </p:nvCxnSpPr>
        <p:spPr>
          <a:xfrm flipV="1">
            <a:off x="4892865" y="3393430"/>
            <a:ext cx="34557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4602A2F9-B802-8057-B613-86294979BFEA}"/>
              </a:ext>
            </a:extLst>
          </p:cNvPr>
          <p:cNvSpPr/>
          <p:nvPr/>
        </p:nvSpPr>
        <p:spPr>
          <a:xfrm>
            <a:off x="4049570" y="3711614"/>
            <a:ext cx="843295" cy="296418"/>
          </a:xfrm>
          <a:prstGeom prst="rect">
            <a:avLst/>
          </a:prstGeom>
          <a:solidFill>
            <a:srgbClr val="667E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 smtClean="0">
                <a:solidFill>
                  <a:schemeClr val="bg2"/>
                </a:solidFill>
              </a:rPr>
              <a:t>PWM</a:t>
            </a:r>
            <a:endParaRPr lang="es-ES" dirty="0">
              <a:solidFill>
                <a:schemeClr val="bg2"/>
              </a:solidFill>
            </a:endParaRP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164669F1-B746-0083-5EC9-52BDD913F225}"/>
              </a:ext>
            </a:extLst>
          </p:cNvPr>
          <p:cNvCxnSpPr>
            <a:cxnSpLocks/>
            <a:stCxn id="90" idx="3"/>
          </p:cNvCxnSpPr>
          <p:nvPr/>
        </p:nvCxnSpPr>
        <p:spPr>
          <a:xfrm flipV="1">
            <a:off x="4892865" y="3859822"/>
            <a:ext cx="34557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164669F1-B746-0083-5EC9-52BDD913F225}"/>
              </a:ext>
            </a:extLst>
          </p:cNvPr>
          <p:cNvCxnSpPr>
            <a:cxnSpLocks/>
            <a:stCxn id="72" idx="3"/>
            <a:endCxn id="90" idx="1"/>
          </p:cNvCxnSpPr>
          <p:nvPr/>
        </p:nvCxnSpPr>
        <p:spPr>
          <a:xfrm>
            <a:off x="3439233" y="3859823"/>
            <a:ext cx="61033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2" name="Rectangle 101">
            <a:extLst>
              <a:ext uri="{FF2B5EF4-FFF2-40B4-BE49-F238E27FC236}">
                <a16:creationId xmlns:a16="http://schemas.microsoft.com/office/drawing/2014/main" id="{DD0895FD-B6F8-3311-CD8A-91A477C4451E}"/>
              </a:ext>
            </a:extLst>
          </p:cNvPr>
          <p:cNvSpPr/>
          <p:nvPr/>
        </p:nvSpPr>
        <p:spPr>
          <a:xfrm>
            <a:off x="1148015" y="3728487"/>
            <a:ext cx="843295" cy="279545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200" dirty="0" smtClean="0">
                <a:solidFill>
                  <a:schemeClr val="bg2"/>
                </a:solidFill>
              </a:rPr>
              <a:t>DHT</a:t>
            </a:r>
            <a:endParaRPr lang="es-ES" sz="1200" dirty="0"/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164669F1-B746-0083-5EC9-52BDD913F225}"/>
              </a:ext>
            </a:extLst>
          </p:cNvPr>
          <p:cNvCxnSpPr>
            <a:cxnSpLocks/>
            <a:stCxn id="102" idx="3"/>
            <a:endCxn id="72" idx="1"/>
          </p:cNvCxnSpPr>
          <p:nvPr/>
        </p:nvCxnSpPr>
        <p:spPr>
          <a:xfrm flipV="1">
            <a:off x="1991310" y="3859823"/>
            <a:ext cx="610337" cy="84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67756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B55AE89-02D7-AFCF-35F3-6FA230DA3805}"/>
              </a:ext>
            </a:extLst>
          </p:cNvPr>
          <p:cNvSpPr/>
          <p:nvPr/>
        </p:nvSpPr>
        <p:spPr>
          <a:xfrm>
            <a:off x="820146" y="1826167"/>
            <a:ext cx="838200" cy="273554"/>
          </a:xfrm>
          <a:prstGeom prst="rect">
            <a:avLst/>
          </a:prstGeom>
          <a:solidFill>
            <a:srgbClr val="2C2A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 smtClean="0">
                <a:solidFill>
                  <a:schemeClr val="bg2"/>
                </a:solidFill>
              </a:rPr>
              <a:t>MQ-2</a:t>
            </a:r>
            <a:endParaRPr lang="es-ES" dirty="0">
              <a:solidFill>
                <a:schemeClr val="bg2"/>
              </a:solidFill>
            </a:endParaRPr>
          </a:p>
        </p:txBody>
      </p:sp>
      <p:sp>
        <p:nvSpPr>
          <p:cNvPr id="132" name="Google Shape;132;p7"/>
          <p:cNvSpPr txBox="1">
            <a:spLocks noGrp="1"/>
          </p:cNvSpPr>
          <p:nvPr>
            <p:ph type="title"/>
          </p:nvPr>
        </p:nvSpPr>
        <p:spPr>
          <a:xfrm>
            <a:off x="791276" y="211790"/>
            <a:ext cx="7696200" cy="528927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ro-RO" noProof="0" dirty="0"/>
              <a:t>Arhitectura Sistemului</a:t>
            </a:r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F0D2106-0867-9916-63CC-86971DA3C443}"/>
              </a:ext>
            </a:extLst>
          </p:cNvPr>
          <p:cNvGrpSpPr/>
          <p:nvPr/>
        </p:nvGrpSpPr>
        <p:grpSpPr>
          <a:xfrm rot="352754" flipH="1">
            <a:off x="-1127513" y="4975830"/>
            <a:ext cx="2255027" cy="622431"/>
            <a:chOff x="6831797" y="4315899"/>
            <a:chExt cx="3227133" cy="890751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C82FE61F-30DC-6399-0A62-6C7B135A9A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6831797" y="4315899"/>
              <a:ext cx="2724237" cy="815572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7E1663BC-4FF5-CDD4-EE5A-5E083208105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>
              <a:off x="7286061" y="4446016"/>
              <a:ext cx="2319946" cy="695226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E37AE330-81C4-FB78-884C-12AE10817B2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>
              <a:off x="8058078" y="4594705"/>
              <a:ext cx="2000852" cy="611945"/>
            </a:xfrm>
            <a:prstGeom prst="rect">
              <a:avLst/>
            </a:prstGeom>
          </p:spPr>
        </p:pic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1AE897B-7875-EB9F-CF80-C1F18412CAC0}"/>
              </a:ext>
            </a:extLst>
          </p:cNvPr>
          <p:cNvGrpSpPr/>
          <p:nvPr/>
        </p:nvGrpSpPr>
        <p:grpSpPr>
          <a:xfrm rot="12041954" flipH="1">
            <a:off x="7617625" y="-161024"/>
            <a:ext cx="2254378" cy="622288"/>
            <a:chOff x="6832729" y="4316100"/>
            <a:chExt cx="3226204" cy="890547"/>
          </a:xfrm>
        </p:grpSpPr>
        <p:pic>
          <p:nvPicPr>
            <p:cNvPr id="53" name="Graphic 52">
              <a:extLst>
                <a:ext uri="{FF2B5EF4-FFF2-40B4-BE49-F238E27FC236}">
                  <a16:creationId xmlns:a16="http://schemas.microsoft.com/office/drawing/2014/main" id="{6E7721F2-0331-E43E-C497-BC3AE2F7DC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6832729" y="4316100"/>
              <a:ext cx="2724237" cy="815572"/>
            </a:xfrm>
            <a:prstGeom prst="rect">
              <a:avLst/>
            </a:prstGeom>
          </p:spPr>
        </p:pic>
        <p:pic>
          <p:nvPicPr>
            <p:cNvPr id="54" name="Graphic 53">
              <a:extLst>
                <a:ext uri="{FF2B5EF4-FFF2-40B4-BE49-F238E27FC236}">
                  <a16:creationId xmlns:a16="http://schemas.microsoft.com/office/drawing/2014/main" id="{16EA12E7-4999-5003-07A2-1C981DDCF72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>
              <a:off x="7286058" y="4446019"/>
              <a:ext cx="2319946" cy="695228"/>
            </a:xfrm>
            <a:prstGeom prst="rect">
              <a:avLst/>
            </a:prstGeom>
          </p:spPr>
        </p:pic>
        <p:pic>
          <p:nvPicPr>
            <p:cNvPr id="55" name="Graphic 54">
              <a:extLst>
                <a:ext uri="{FF2B5EF4-FFF2-40B4-BE49-F238E27FC236}">
                  <a16:creationId xmlns:a16="http://schemas.microsoft.com/office/drawing/2014/main" id="{32895A88-A5DD-CA31-EC82-98D39AE27B6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>
              <a:off x="8058080" y="4594703"/>
              <a:ext cx="2000853" cy="611944"/>
            </a:xfrm>
            <a:prstGeom prst="rect">
              <a:avLst/>
            </a:prstGeom>
          </p:spPr>
        </p:pic>
      </p:grpSp>
      <p:sp>
        <p:nvSpPr>
          <p:cNvPr id="58" name="Rectangle 57">
            <a:extLst>
              <a:ext uri="{FF2B5EF4-FFF2-40B4-BE49-F238E27FC236}">
                <a16:creationId xmlns:a16="http://schemas.microsoft.com/office/drawing/2014/main" id="{1B55AE89-02D7-AFCF-35F3-6FA230DA3805}"/>
              </a:ext>
            </a:extLst>
          </p:cNvPr>
          <p:cNvSpPr/>
          <p:nvPr/>
        </p:nvSpPr>
        <p:spPr>
          <a:xfrm>
            <a:off x="820146" y="2303995"/>
            <a:ext cx="838200" cy="273554"/>
          </a:xfrm>
          <a:prstGeom prst="rect">
            <a:avLst/>
          </a:prstGeom>
          <a:solidFill>
            <a:srgbClr val="2C2A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 smtClean="0">
                <a:solidFill>
                  <a:schemeClr val="bg2"/>
                </a:solidFill>
              </a:rPr>
              <a:t>MQ-7</a:t>
            </a:r>
            <a:endParaRPr lang="es-ES" dirty="0">
              <a:solidFill>
                <a:schemeClr val="bg2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B55AE89-02D7-AFCF-35F3-6FA230DA3805}"/>
              </a:ext>
            </a:extLst>
          </p:cNvPr>
          <p:cNvSpPr/>
          <p:nvPr/>
        </p:nvSpPr>
        <p:spPr>
          <a:xfrm>
            <a:off x="820146" y="2781823"/>
            <a:ext cx="838200" cy="273554"/>
          </a:xfrm>
          <a:prstGeom prst="rect">
            <a:avLst/>
          </a:prstGeom>
          <a:solidFill>
            <a:srgbClr val="2C2A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 smtClean="0">
                <a:solidFill>
                  <a:schemeClr val="bg2"/>
                </a:solidFill>
              </a:rPr>
              <a:t>MQ-135</a:t>
            </a:r>
            <a:endParaRPr lang="es-ES" dirty="0">
              <a:solidFill>
                <a:schemeClr val="bg2"/>
              </a:solidFill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164669F1-B746-0083-5EC9-52BDD913F225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1658346" y="1962944"/>
            <a:ext cx="3455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164669F1-B746-0083-5EC9-52BDD913F225}"/>
              </a:ext>
            </a:extLst>
          </p:cNvPr>
          <p:cNvCxnSpPr>
            <a:cxnSpLocks/>
            <a:stCxn id="58" idx="3"/>
          </p:cNvCxnSpPr>
          <p:nvPr/>
        </p:nvCxnSpPr>
        <p:spPr>
          <a:xfrm>
            <a:off x="1658346" y="2440772"/>
            <a:ext cx="3455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164669F1-B746-0083-5EC9-52BDD913F225}"/>
              </a:ext>
            </a:extLst>
          </p:cNvPr>
          <p:cNvCxnSpPr>
            <a:cxnSpLocks/>
            <a:stCxn id="59" idx="3"/>
          </p:cNvCxnSpPr>
          <p:nvPr/>
        </p:nvCxnSpPr>
        <p:spPr>
          <a:xfrm>
            <a:off x="1658346" y="2918600"/>
            <a:ext cx="3455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7A2B68A4-334D-11C9-E0BF-5FAE2E02502D}"/>
              </a:ext>
            </a:extLst>
          </p:cNvPr>
          <p:cNvSpPr/>
          <p:nvPr/>
        </p:nvSpPr>
        <p:spPr>
          <a:xfrm>
            <a:off x="-1552298" y="3663580"/>
            <a:ext cx="837586" cy="392483"/>
          </a:xfrm>
          <a:prstGeom prst="rect">
            <a:avLst/>
          </a:prstGeom>
          <a:solidFill>
            <a:srgbClr val="2C2A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chemeClr val="bg2"/>
                </a:solidFill>
              </a:rPr>
              <a:t>ESP32</a:t>
            </a:r>
            <a:endParaRPr lang="es-ES" dirty="0">
              <a:solidFill>
                <a:schemeClr val="bg2"/>
              </a:solidFill>
            </a:endParaRPr>
          </a:p>
        </p:txBody>
      </p:sp>
      <p:pic>
        <p:nvPicPr>
          <p:cNvPr id="1026" name="Picture 2" descr="Picture 5 of 6"/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6" t="12226" r="14444" b="12268"/>
          <a:stretch/>
        </p:blipFill>
        <p:spPr bwMode="auto">
          <a:xfrm>
            <a:off x="2159454" y="1547136"/>
            <a:ext cx="1767385" cy="1828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5" name="Rectangle 84">
            <a:extLst>
              <a:ext uri="{FF2B5EF4-FFF2-40B4-BE49-F238E27FC236}">
                <a16:creationId xmlns:a16="http://schemas.microsoft.com/office/drawing/2014/main" id="{DD0895FD-B6F8-3311-CD8A-91A477C4451E}"/>
              </a:ext>
            </a:extLst>
          </p:cNvPr>
          <p:cNvSpPr/>
          <p:nvPr/>
        </p:nvSpPr>
        <p:spPr>
          <a:xfrm>
            <a:off x="815050" y="3253658"/>
            <a:ext cx="843295" cy="279545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200" dirty="0" smtClean="0">
                <a:solidFill>
                  <a:schemeClr val="bg2"/>
                </a:solidFill>
              </a:rPr>
              <a:t>DHT</a:t>
            </a:r>
            <a:endParaRPr lang="es-ES" sz="1200" dirty="0"/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164669F1-B746-0083-5EC9-52BDD913F225}"/>
              </a:ext>
            </a:extLst>
          </p:cNvPr>
          <p:cNvCxnSpPr>
            <a:cxnSpLocks/>
            <a:stCxn id="85" idx="3"/>
          </p:cNvCxnSpPr>
          <p:nvPr/>
        </p:nvCxnSpPr>
        <p:spPr>
          <a:xfrm flipV="1">
            <a:off x="1658345" y="3393430"/>
            <a:ext cx="34557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4602A2F9-B802-8057-B613-86294979BFEA}"/>
              </a:ext>
            </a:extLst>
          </p:cNvPr>
          <p:cNvSpPr/>
          <p:nvPr/>
        </p:nvSpPr>
        <p:spPr>
          <a:xfrm>
            <a:off x="815050" y="3711614"/>
            <a:ext cx="843295" cy="296418"/>
          </a:xfrm>
          <a:prstGeom prst="rect">
            <a:avLst/>
          </a:prstGeom>
          <a:solidFill>
            <a:srgbClr val="667E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 smtClean="0">
                <a:solidFill>
                  <a:schemeClr val="bg2"/>
                </a:solidFill>
              </a:rPr>
              <a:t>PWM</a:t>
            </a:r>
            <a:endParaRPr lang="es-ES" dirty="0">
              <a:solidFill>
                <a:schemeClr val="bg2"/>
              </a:solidFill>
            </a:endParaRP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164669F1-B746-0083-5EC9-52BDD913F225}"/>
              </a:ext>
            </a:extLst>
          </p:cNvPr>
          <p:cNvCxnSpPr>
            <a:cxnSpLocks/>
            <a:stCxn id="90" idx="3"/>
          </p:cNvCxnSpPr>
          <p:nvPr/>
        </p:nvCxnSpPr>
        <p:spPr>
          <a:xfrm flipV="1">
            <a:off x="1658345" y="3859822"/>
            <a:ext cx="34557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164669F1-B746-0083-5EC9-52BDD913F225}"/>
              </a:ext>
            </a:extLst>
          </p:cNvPr>
          <p:cNvCxnSpPr>
            <a:cxnSpLocks/>
          </p:cNvCxnSpPr>
          <p:nvPr/>
        </p:nvCxnSpPr>
        <p:spPr>
          <a:xfrm>
            <a:off x="-714712" y="3859822"/>
            <a:ext cx="61033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2" name="Rectangle 101">
            <a:extLst>
              <a:ext uri="{FF2B5EF4-FFF2-40B4-BE49-F238E27FC236}">
                <a16:creationId xmlns:a16="http://schemas.microsoft.com/office/drawing/2014/main" id="{DD0895FD-B6F8-3311-CD8A-91A477C4451E}"/>
              </a:ext>
            </a:extLst>
          </p:cNvPr>
          <p:cNvSpPr/>
          <p:nvPr/>
        </p:nvSpPr>
        <p:spPr>
          <a:xfrm>
            <a:off x="-3005930" y="3728486"/>
            <a:ext cx="843295" cy="279545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200" dirty="0" smtClean="0">
                <a:solidFill>
                  <a:schemeClr val="bg2"/>
                </a:solidFill>
              </a:rPr>
              <a:t>DHT</a:t>
            </a:r>
            <a:endParaRPr lang="es-ES" sz="1200" dirty="0"/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164669F1-B746-0083-5EC9-52BDD913F225}"/>
              </a:ext>
            </a:extLst>
          </p:cNvPr>
          <p:cNvCxnSpPr>
            <a:cxnSpLocks/>
            <a:stCxn id="102" idx="3"/>
            <a:endCxn id="72" idx="1"/>
          </p:cNvCxnSpPr>
          <p:nvPr/>
        </p:nvCxnSpPr>
        <p:spPr>
          <a:xfrm flipV="1">
            <a:off x="-2162635" y="3859822"/>
            <a:ext cx="610337" cy="84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50" name="Picture 2" descr="usb cable line icon in white and black colors. usb cable flat vector icon from usb cable collection for web, mobile apps and ui."/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332" t="20509" r="10667" b="20602"/>
          <a:stretch/>
        </p:blipFill>
        <p:spPr bwMode="auto">
          <a:xfrm>
            <a:off x="4383130" y="1921357"/>
            <a:ext cx="1182278" cy="1080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6" descr="Laptop illustration Images - Free Download on Freepik">
            <a:extLst>
              <a:ext uri="{FF2B5EF4-FFF2-40B4-BE49-F238E27FC236}">
                <a16:creationId xmlns:a16="http://schemas.microsoft.com/office/drawing/2014/main" id="{E01CE3E9-0608-7A82-8922-B9A81EFD879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21699" y="1664439"/>
            <a:ext cx="1868764" cy="1868764"/>
          </a:xfrm>
          <a:prstGeom prst="rect">
            <a:avLst/>
          </a:prstGeom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64669F1-B746-0083-5EC9-52BDD913F225}"/>
              </a:ext>
            </a:extLst>
          </p:cNvPr>
          <p:cNvCxnSpPr>
            <a:cxnSpLocks/>
          </p:cNvCxnSpPr>
          <p:nvPr/>
        </p:nvCxnSpPr>
        <p:spPr>
          <a:xfrm>
            <a:off x="4037556" y="2475010"/>
            <a:ext cx="3455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64669F1-B746-0083-5EC9-52BDD913F225}"/>
              </a:ext>
            </a:extLst>
          </p:cNvPr>
          <p:cNvCxnSpPr>
            <a:cxnSpLocks/>
          </p:cNvCxnSpPr>
          <p:nvPr/>
        </p:nvCxnSpPr>
        <p:spPr>
          <a:xfrm>
            <a:off x="5676125" y="2461535"/>
            <a:ext cx="3455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0" name="Picture 29"/>
          <p:cNvPicPr preferRelativeResize="0">
            <a:picLocks/>
          </p:cNvPicPr>
          <p:nvPr/>
        </p:nvPicPr>
        <p:blipFill>
          <a:blip r:embed="rId12"/>
          <a:stretch>
            <a:fillRect/>
          </a:stretch>
        </p:blipFill>
        <p:spPr>
          <a:xfrm rot="1302886">
            <a:off x="6891111" y="2241457"/>
            <a:ext cx="638197" cy="398629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53712" y="2415816"/>
            <a:ext cx="73092" cy="45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1942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B55AE89-02D7-AFCF-35F3-6FA230DA3805}"/>
              </a:ext>
            </a:extLst>
          </p:cNvPr>
          <p:cNvSpPr/>
          <p:nvPr/>
        </p:nvSpPr>
        <p:spPr>
          <a:xfrm>
            <a:off x="-5142233" y="1998224"/>
            <a:ext cx="434919" cy="206271"/>
          </a:xfrm>
          <a:prstGeom prst="rect">
            <a:avLst/>
          </a:prstGeom>
          <a:solidFill>
            <a:srgbClr val="2C2A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 smtClean="0">
                <a:solidFill>
                  <a:schemeClr val="bg2"/>
                </a:solidFill>
              </a:rPr>
              <a:t>MQ-2</a:t>
            </a:r>
            <a:endParaRPr lang="es-ES" dirty="0">
              <a:solidFill>
                <a:schemeClr val="bg2"/>
              </a:solidFill>
            </a:endParaRPr>
          </a:p>
        </p:txBody>
      </p:sp>
      <p:sp>
        <p:nvSpPr>
          <p:cNvPr id="132" name="Google Shape;132;p7"/>
          <p:cNvSpPr txBox="1">
            <a:spLocks noGrp="1"/>
          </p:cNvSpPr>
          <p:nvPr>
            <p:ph type="title"/>
          </p:nvPr>
        </p:nvSpPr>
        <p:spPr>
          <a:xfrm>
            <a:off x="791276" y="211790"/>
            <a:ext cx="7696200" cy="528927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ro-RO" noProof="0" dirty="0"/>
              <a:t>Arhitectura Sistemului</a:t>
            </a:r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F0D2106-0867-9916-63CC-86971DA3C443}"/>
              </a:ext>
            </a:extLst>
          </p:cNvPr>
          <p:cNvGrpSpPr/>
          <p:nvPr/>
        </p:nvGrpSpPr>
        <p:grpSpPr>
          <a:xfrm rot="21248859" flipH="1">
            <a:off x="-751820" y="4832284"/>
            <a:ext cx="2255027" cy="622431"/>
            <a:chOff x="6831797" y="4315899"/>
            <a:chExt cx="3227133" cy="890751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C82FE61F-30DC-6399-0A62-6C7B135A9A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6831797" y="4315899"/>
              <a:ext cx="2724237" cy="815572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7E1663BC-4FF5-CDD4-EE5A-5E083208105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>
              <a:off x="7286061" y="4446016"/>
              <a:ext cx="2319946" cy="695226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E37AE330-81C4-FB78-884C-12AE10817B2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>
              <a:off x="8058078" y="4594705"/>
              <a:ext cx="2000852" cy="611945"/>
            </a:xfrm>
            <a:prstGeom prst="rect">
              <a:avLst/>
            </a:prstGeom>
          </p:spPr>
        </p:pic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1AE897B-7875-EB9F-CF80-C1F18412CAC0}"/>
              </a:ext>
            </a:extLst>
          </p:cNvPr>
          <p:cNvGrpSpPr/>
          <p:nvPr/>
        </p:nvGrpSpPr>
        <p:grpSpPr>
          <a:xfrm rot="11694378" flipH="1">
            <a:off x="7791794" y="-161057"/>
            <a:ext cx="2254378" cy="622288"/>
            <a:chOff x="6832729" y="4316100"/>
            <a:chExt cx="3226204" cy="890547"/>
          </a:xfrm>
        </p:grpSpPr>
        <p:pic>
          <p:nvPicPr>
            <p:cNvPr id="53" name="Graphic 52">
              <a:extLst>
                <a:ext uri="{FF2B5EF4-FFF2-40B4-BE49-F238E27FC236}">
                  <a16:creationId xmlns:a16="http://schemas.microsoft.com/office/drawing/2014/main" id="{6E7721F2-0331-E43E-C497-BC3AE2F7DC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6832729" y="4316100"/>
              <a:ext cx="2724237" cy="815572"/>
            </a:xfrm>
            <a:prstGeom prst="rect">
              <a:avLst/>
            </a:prstGeom>
          </p:spPr>
        </p:pic>
        <p:pic>
          <p:nvPicPr>
            <p:cNvPr id="54" name="Graphic 53">
              <a:extLst>
                <a:ext uri="{FF2B5EF4-FFF2-40B4-BE49-F238E27FC236}">
                  <a16:creationId xmlns:a16="http://schemas.microsoft.com/office/drawing/2014/main" id="{16EA12E7-4999-5003-07A2-1C981DDCF72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>
              <a:off x="7286058" y="4446019"/>
              <a:ext cx="2319946" cy="695228"/>
            </a:xfrm>
            <a:prstGeom prst="rect">
              <a:avLst/>
            </a:prstGeom>
          </p:spPr>
        </p:pic>
        <p:pic>
          <p:nvPicPr>
            <p:cNvPr id="55" name="Graphic 54">
              <a:extLst>
                <a:ext uri="{FF2B5EF4-FFF2-40B4-BE49-F238E27FC236}">
                  <a16:creationId xmlns:a16="http://schemas.microsoft.com/office/drawing/2014/main" id="{32895A88-A5DD-CA31-EC82-98D39AE27B6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>
              <a:off x="8058080" y="4594703"/>
              <a:ext cx="2000853" cy="611944"/>
            </a:xfrm>
            <a:prstGeom prst="rect">
              <a:avLst/>
            </a:prstGeom>
          </p:spPr>
        </p:pic>
      </p:grpSp>
      <p:sp>
        <p:nvSpPr>
          <p:cNvPr id="58" name="Rectangle 57">
            <a:extLst>
              <a:ext uri="{FF2B5EF4-FFF2-40B4-BE49-F238E27FC236}">
                <a16:creationId xmlns:a16="http://schemas.microsoft.com/office/drawing/2014/main" id="{1B55AE89-02D7-AFCF-35F3-6FA230DA3805}"/>
              </a:ext>
            </a:extLst>
          </p:cNvPr>
          <p:cNvSpPr/>
          <p:nvPr/>
        </p:nvSpPr>
        <p:spPr>
          <a:xfrm>
            <a:off x="-5142233" y="2476052"/>
            <a:ext cx="434919" cy="206271"/>
          </a:xfrm>
          <a:prstGeom prst="rect">
            <a:avLst/>
          </a:prstGeom>
          <a:solidFill>
            <a:srgbClr val="2C2A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 smtClean="0">
                <a:solidFill>
                  <a:schemeClr val="bg2"/>
                </a:solidFill>
              </a:rPr>
              <a:t>MQ-7</a:t>
            </a:r>
            <a:endParaRPr lang="es-ES" dirty="0">
              <a:solidFill>
                <a:schemeClr val="bg2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B55AE89-02D7-AFCF-35F3-6FA230DA3805}"/>
              </a:ext>
            </a:extLst>
          </p:cNvPr>
          <p:cNvSpPr/>
          <p:nvPr/>
        </p:nvSpPr>
        <p:spPr>
          <a:xfrm>
            <a:off x="-5142233" y="2953880"/>
            <a:ext cx="434919" cy="206271"/>
          </a:xfrm>
          <a:prstGeom prst="rect">
            <a:avLst/>
          </a:prstGeom>
          <a:solidFill>
            <a:srgbClr val="2C2A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 smtClean="0">
                <a:solidFill>
                  <a:schemeClr val="bg2"/>
                </a:solidFill>
              </a:rPr>
              <a:t>MQ-135</a:t>
            </a:r>
            <a:endParaRPr lang="es-ES" dirty="0">
              <a:solidFill>
                <a:schemeClr val="bg2"/>
              </a:solidFill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164669F1-B746-0083-5EC9-52BDD913F225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-4304033" y="2067719"/>
            <a:ext cx="3455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164669F1-B746-0083-5EC9-52BDD913F225}"/>
              </a:ext>
            </a:extLst>
          </p:cNvPr>
          <p:cNvCxnSpPr>
            <a:cxnSpLocks/>
            <a:stCxn id="58" idx="3"/>
          </p:cNvCxnSpPr>
          <p:nvPr/>
        </p:nvCxnSpPr>
        <p:spPr>
          <a:xfrm>
            <a:off x="-4304033" y="2545547"/>
            <a:ext cx="3455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164669F1-B746-0083-5EC9-52BDD913F225}"/>
              </a:ext>
            </a:extLst>
          </p:cNvPr>
          <p:cNvCxnSpPr>
            <a:cxnSpLocks/>
            <a:stCxn id="59" idx="3"/>
          </p:cNvCxnSpPr>
          <p:nvPr/>
        </p:nvCxnSpPr>
        <p:spPr>
          <a:xfrm>
            <a:off x="-4304033" y="3023375"/>
            <a:ext cx="3455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7A2B68A4-334D-11C9-E0BF-5FAE2E02502D}"/>
              </a:ext>
            </a:extLst>
          </p:cNvPr>
          <p:cNvSpPr/>
          <p:nvPr/>
        </p:nvSpPr>
        <p:spPr>
          <a:xfrm>
            <a:off x="-7514677" y="3864889"/>
            <a:ext cx="434601" cy="295949"/>
          </a:xfrm>
          <a:prstGeom prst="rect">
            <a:avLst/>
          </a:prstGeom>
          <a:solidFill>
            <a:srgbClr val="2C2A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chemeClr val="bg2"/>
                </a:solidFill>
              </a:rPr>
              <a:t>ESP32</a:t>
            </a:r>
            <a:endParaRPr lang="es-ES" dirty="0">
              <a:solidFill>
                <a:schemeClr val="bg2"/>
              </a:solidFill>
            </a:endParaRPr>
          </a:p>
        </p:txBody>
      </p:sp>
      <p:pic>
        <p:nvPicPr>
          <p:cNvPr id="1026" name="Picture 2" descr="Picture 5 of 6"/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6" t="12226" r="14444" b="12268"/>
          <a:stretch/>
        </p:blipFill>
        <p:spPr bwMode="auto">
          <a:xfrm>
            <a:off x="-3802924" y="2101718"/>
            <a:ext cx="1332684" cy="1378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5" name="Rectangle 84">
            <a:extLst>
              <a:ext uri="{FF2B5EF4-FFF2-40B4-BE49-F238E27FC236}">
                <a16:creationId xmlns:a16="http://schemas.microsoft.com/office/drawing/2014/main" id="{DD0895FD-B6F8-3311-CD8A-91A477C4451E}"/>
              </a:ext>
            </a:extLst>
          </p:cNvPr>
          <p:cNvSpPr/>
          <p:nvPr/>
        </p:nvSpPr>
        <p:spPr>
          <a:xfrm>
            <a:off x="-5147329" y="3427189"/>
            <a:ext cx="437563" cy="210789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200" dirty="0" smtClean="0">
                <a:solidFill>
                  <a:schemeClr val="bg2"/>
                </a:solidFill>
              </a:rPr>
              <a:t>DHT</a:t>
            </a:r>
            <a:endParaRPr lang="es-ES" sz="1200" dirty="0"/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164669F1-B746-0083-5EC9-52BDD913F225}"/>
              </a:ext>
            </a:extLst>
          </p:cNvPr>
          <p:cNvCxnSpPr>
            <a:cxnSpLocks/>
            <a:stCxn id="85" idx="3"/>
          </p:cNvCxnSpPr>
          <p:nvPr/>
        </p:nvCxnSpPr>
        <p:spPr>
          <a:xfrm flipV="1">
            <a:off x="-4304034" y="3498205"/>
            <a:ext cx="34557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4602A2F9-B802-8057-B613-86294979BFEA}"/>
              </a:ext>
            </a:extLst>
          </p:cNvPr>
          <p:cNvSpPr/>
          <p:nvPr/>
        </p:nvSpPr>
        <p:spPr>
          <a:xfrm>
            <a:off x="-5147329" y="3889295"/>
            <a:ext cx="437563" cy="223512"/>
          </a:xfrm>
          <a:prstGeom prst="rect">
            <a:avLst/>
          </a:prstGeom>
          <a:solidFill>
            <a:srgbClr val="667E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 smtClean="0">
                <a:solidFill>
                  <a:schemeClr val="bg2"/>
                </a:solidFill>
              </a:rPr>
              <a:t>PWM</a:t>
            </a:r>
            <a:endParaRPr lang="es-ES" dirty="0">
              <a:solidFill>
                <a:schemeClr val="bg2"/>
              </a:solidFill>
            </a:endParaRP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164669F1-B746-0083-5EC9-52BDD913F225}"/>
              </a:ext>
            </a:extLst>
          </p:cNvPr>
          <p:cNvCxnSpPr>
            <a:cxnSpLocks/>
            <a:stCxn id="90" idx="3"/>
          </p:cNvCxnSpPr>
          <p:nvPr/>
        </p:nvCxnSpPr>
        <p:spPr>
          <a:xfrm flipV="1">
            <a:off x="-4304034" y="3964597"/>
            <a:ext cx="34557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164669F1-B746-0083-5EC9-52BDD913F225}"/>
              </a:ext>
            </a:extLst>
          </p:cNvPr>
          <p:cNvCxnSpPr>
            <a:cxnSpLocks/>
          </p:cNvCxnSpPr>
          <p:nvPr/>
        </p:nvCxnSpPr>
        <p:spPr>
          <a:xfrm>
            <a:off x="-6677091" y="3964597"/>
            <a:ext cx="3166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2" name="Rectangle 101">
            <a:extLst>
              <a:ext uri="{FF2B5EF4-FFF2-40B4-BE49-F238E27FC236}">
                <a16:creationId xmlns:a16="http://schemas.microsoft.com/office/drawing/2014/main" id="{DD0895FD-B6F8-3311-CD8A-91A477C4451E}"/>
              </a:ext>
            </a:extLst>
          </p:cNvPr>
          <p:cNvSpPr/>
          <p:nvPr/>
        </p:nvSpPr>
        <p:spPr>
          <a:xfrm>
            <a:off x="-8968309" y="3902017"/>
            <a:ext cx="437563" cy="210789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200" dirty="0" smtClean="0">
                <a:solidFill>
                  <a:schemeClr val="bg2"/>
                </a:solidFill>
              </a:rPr>
              <a:t>DHT</a:t>
            </a:r>
            <a:endParaRPr lang="es-ES" sz="1200" dirty="0"/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164669F1-B746-0083-5EC9-52BDD913F225}"/>
              </a:ext>
            </a:extLst>
          </p:cNvPr>
          <p:cNvCxnSpPr>
            <a:cxnSpLocks/>
            <a:stCxn id="102" idx="3"/>
            <a:endCxn id="72" idx="1"/>
          </p:cNvCxnSpPr>
          <p:nvPr/>
        </p:nvCxnSpPr>
        <p:spPr>
          <a:xfrm flipV="1">
            <a:off x="-8125014" y="3964597"/>
            <a:ext cx="610337" cy="84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50" name="Picture 2" descr="usb cable line icon in white and black colors. usb cable flat vector icon from usb cable collection for web, mobile apps and ui."/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332" t="20509" r="10667" b="20602"/>
          <a:stretch/>
        </p:blipFill>
        <p:spPr bwMode="auto">
          <a:xfrm>
            <a:off x="-1579249" y="2291854"/>
            <a:ext cx="891488" cy="814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6" descr="Laptop illustration Images - Free Download on Freepik">
            <a:extLst>
              <a:ext uri="{FF2B5EF4-FFF2-40B4-BE49-F238E27FC236}">
                <a16:creationId xmlns:a16="http://schemas.microsoft.com/office/drawing/2014/main" id="{E01CE3E9-0608-7A82-8922-B9A81EFD879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82951" y="-217059"/>
            <a:ext cx="5512850" cy="5512850"/>
          </a:xfrm>
          <a:prstGeom prst="rect">
            <a:avLst/>
          </a:prstGeom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64669F1-B746-0083-5EC9-52BDD913F225}"/>
              </a:ext>
            </a:extLst>
          </p:cNvPr>
          <p:cNvCxnSpPr>
            <a:cxnSpLocks/>
          </p:cNvCxnSpPr>
          <p:nvPr/>
        </p:nvCxnSpPr>
        <p:spPr>
          <a:xfrm>
            <a:off x="-1924823" y="2579785"/>
            <a:ext cx="1793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64669F1-B746-0083-5EC9-52BDD913F225}"/>
              </a:ext>
            </a:extLst>
          </p:cNvPr>
          <p:cNvCxnSpPr>
            <a:cxnSpLocks/>
          </p:cNvCxnSpPr>
          <p:nvPr/>
        </p:nvCxnSpPr>
        <p:spPr>
          <a:xfrm>
            <a:off x="-286254" y="2566310"/>
            <a:ext cx="1793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Picture 4"/>
          <p:cNvPicPr preferRelativeResize="0">
            <a:picLocks/>
          </p:cNvPicPr>
          <p:nvPr/>
        </p:nvPicPr>
        <p:blipFill>
          <a:blip r:embed="rId12"/>
          <a:stretch>
            <a:fillRect/>
          </a:stretch>
        </p:blipFill>
        <p:spPr>
          <a:xfrm rot="1302886">
            <a:off x="4486954" y="1518071"/>
            <a:ext cx="1836614" cy="1166575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42723" y="2022000"/>
            <a:ext cx="73092" cy="45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9506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Laptop illustration Images - Free Download on Freepik">
            <a:extLst>
              <a:ext uri="{FF2B5EF4-FFF2-40B4-BE49-F238E27FC236}">
                <a16:creationId xmlns:a16="http://schemas.microsoft.com/office/drawing/2014/main" id="{E01CE3E9-0608-7A82-8922-B9A81EFD8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695164" y="-15496045"/>
            <a:ext cx="44141849" cy="44141849"/>
          </a:xfrm>
          <a:prstGeom prst="rect">
            <a:avLst/>
          </a:prstGeom>
        </p:spPr>
      </p:pic>
      <p:pic>
        <p:nvPicPr>
          <p:cNvPr id="8" name="Picture 7"/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-42657485" y="-19507291"/>
            <a:ext cx="70205599" cy="5100319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-83820" y="-60960"/>
            <a:ext cx="9364980" cy="53568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188980"/>
            <a:ext cx="7764939" cy="485697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4408" y="5530555"/>
            <a:ext cx="4255184" cy="2088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556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83820" y="-60960"/>
            <a:ext cx="9364980" cy="53568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007" y="464050"/>
            <a:ext cx="8587986" cy="421540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4312" y="5486399"/>
            <a:ext cx="4295376" cy="268762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5690" y="-3791141"/>
            <a:ext cx="5712619" cy="357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290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83820" y="-60960"/>
            <a:ext cx="9364980" cy="53568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267" y="-60960"/>
            <a:ext cx="8460805" cy="52939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403" y="-3380194"/>
            <a:ext cx="5767193" cy="283081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4400" y="1019352"/>
            <a:ext cx="3581358" cy="3117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276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83820" y="-60960"/>
            <a:ext cx="9364980" cy="53568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43" y="360451"/>
            <a:ext cx="5079915" cy="442259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387405" y="1319373"/>
            <a:ext cx="4003105" cy="250475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4388" y="1764685"/>
            <a:ext cx="4261349" cy="1705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564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83820" y="-60960"/>
            <a:ext cx="9364980" cy="53568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112" y="770930"/>
            <a:ext cx="9168223" cy="366950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3942" y="1848545"/>
            <a:ext cx="2355429" cy="130813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290424" y="1744139"/>
            <a:ext cx="2933822" cy="255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747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Laptop illustration Images - Free Download on Freepik">
            <a:extLst>
              <a:ext uri="{FF2B5EF4-FFF2-40B4-BE49-F238E27FC236}">
                <a16:creationId xmlns:a16="http://schemas.microsoft.com/office/drawing/2014/main" id="{E01CE3E9-0608-7A82-8922-B9A81EFD8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314722" y="-6613458"/>
            <a:ext cx="26006250" cy="26006250"/>
          </a:xfrm>
          <a:prstGeom prst="rect">
            <a:avLst/>
          </a:prstGeom>
        </p:spPr>
      </p:pic>
      <p:pic>
        <p:nvPicPr>
          <p:cNvPr id="7" name="Picture 6"/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-42657485" y="-19507291"/>
            <a:ext cx="70205599" cy="5100319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-83820" y="-60960"/>
            <a:ext cx="9364980" cy="53568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678" y="636934"/>
            <a:ext cx="7492644" cy="416120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7555911" y="1506612"/>
            <a:ext cx="6050962" cy="2421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084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AD293982-5FC6-5B93-5A88-4EACBCD84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46" descr="Laptop illustration Images - Free Download on Freepik">
            <a:extLst>
              <a:ext uri="{FF2B5EF4-FFF2-40B4-BE49-F238E27FC236}">
                <a16:creationId xmlns:a16="http://schemas.microsoft.com/office/drawing/2014/main" id="{E01CE3E9-0608-7A82-8922-B9A81EFD87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481" y="226652"/>
            <a:ext cx="1085850" cy="1085850"/>
          </a:xfrm>
          <a:prstGeom prst="rect">
            <a:avLst/>
          </a:prstGeom>
        </p:spPr>
      </p:pic>
      <p:pic>
        <p:nvPicPr>
          <p:cNvPr id="35" name="Picture 34"/>
          <p:cNvPicPr preferRelativeResize="0">
            <a:picLocks/>
          </p:cNvPicPr>
          <p:nvPr/>
        </p:nvPicPr>
        <p:blipFill>
          <a:blip r:embed="rId4"/>
          <a:stretch>
            <a:fillRect/>
          </a:stretch>
        </p:blipFill>
        <p:spPr>
          <a:xfrm rot="1302886">
            <a:off x="2741115" y="533560"/>
            <a:ext cx="328946" cy="244903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5AD00005-0CD0-1EBD-FE36-451FD7371D7E}"/>
              </a:ext>
            </a:extLst>
          </p:cNvPr>
          <p:cNvGrpSpPr/>
          <p:nvPr/>
        </p:nvGrpSpPr>
        <p:grpSpPr>
          <a:xfrm rot="286956" flipH="1">
            <a:off x="-665445" y="4832284"/>
            <a:ext cx="2255027" cy="622431"/>
            <a:chOff x="6831797" y="4315899"/>
            <a:chExt cx="3227133" cy="890751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BDE7D23B-A9E7-A416-7D33-5F188F68A16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>
              <a:off x="6831797" y="4315899"/>
              <a:ext cx="2724237" cy="815572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090E3FE5-6D93-69A7-479B-3FE2178211F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>
              <a:off x="7286061" y="4446016"/>
              <a:ext cx="2319946" cy="695226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60CBEF2B-018B-C75B-B53A-118201D8111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flipH="1">
              <a:off x="8058078" y="4594705"/>
              <a:ext cx="2000852" cy="611945"/>
            </a:xfrm>
            <a:prstGeom prst="rect">
              <a:avLst/>
            </a:prstGeom>
          </p:spPr>
        </p:pic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986A6700-C279-F881-C3F4-6DA280BC46FA}"/>
              </a:ext>
            </a:extLst>
          </p:cNvPr>
          <p:cNvGrpSpPr/>
          <p:nvPr/>
        </p:nvGrpSpPr>
        <p:grpSpPr>
          <a:xfrm rot="12651836" flipH="1">
            <a:off x="7633589" y="-17008"/>
            <a:ext cx="2254378" cy="622288"/>
            <a:chOff x="6832729" y="4316100"/>
            <a:chExt cx="3226204" cy="890547"/>
          </a:xfrm>
        </p:grpSpPr>
        <p:pic>
          <p:nvPicPr>
            <p:cNvPr id="53" name="Graphic 52">
              <a:extLst>
                <a:ext uri="{FF2B5EF4-FFF2-40B4-BE49-F238E27FC236}">
                  <a16:creationId xmlns:a16="http://schemas.microsoft.com/office/drawing/2014/main" id="{CE7E0484-5CA2-608B-0EF5-E32B109EC8C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>
              <a:off x="6832729" y="4316100"/>
              <a:ext cx="2724237" cy="815572"/>
            </a:xfrm>
            <a:prstGeom prst="rect">
              <a:avLst/>
            </a:prstGeom>
          </p:spPr>
        </p:pic>
        <p:pic>
          <p:nvPicPr>
            <p:cNvPr id="54" name="Graphic 53">
              <a:extLst>
                <a:ext uri="{FF2B5EF4-FFF2-40B4-BE49-F238E27FC236}">
                  <a16:creationId xmlns:a16="http://schemas.microsoft.com/office/drawing/2014/main" id="{52BBBBAD-BA7D-DFFF-300C-3A2436D2169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>
              <a:off x="7286058" y="4446019"/>
              <a:ext cx="2319946" cy="695228"/>
            </a:xfrm>
            <a:prstGeom prst="rect">
              <a:avLst/>
            </a:prstGeom>
          </p:spPr>
        </p:pic>
        <p:pic>
          <p:nvPicPr>
            <p:cNvPr id="55" name="Graphic 54">
              <a:extLst>
                <a:ext uri="{FF2B5EF4-FFF2-40B4-BE49-F238E27FC236}">
                  <a16:creationId xmlns:a16="http://schemas.microsoft.com/office/drawing/2014/main" id="{87388A02-2A19-654F-D86D-D9DD5BFA280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flipH="1">
              <a:off x="8058080" y="4594703"/>
              <a:ext cx="2000853" cy="611944"/>
            </a:xfrm>
            <a:prstGeom prst="rect">
              <a:avLst/>
            </a:prstGeom>
          </p:spPr>
        </p:pic>
      </p:grpSp>
      <p:pic>
        <p:nvPicPr>
          <p:cNvPr id="16" name="Picture 15" descr="HCL:Raspberry Pi4 - openSUSE Wiki">
            <a:extLst>
              <a:ext uri="{FF2B5EF4-FFF2-40B4-BE49-F238E27FC236}">
                <a16:creationId xmlns:a16="http://schemas.microsoft.com/office/drawing/2014/main" id="{28ADA9B8-B436-7E8A-C0FD-205ECDC16ED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56236" y="3641701"/>
            <a:ext cx="1583620" cy="1048259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7665C089-F937-AB76-BC07-7C3763ADA606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20618" t="19144" r="20030" b="20425"/>
          <a:stretch>
            <a:fillRect/>
          </a:stretch>
        </p:blipFill>
        <p:spPr>
          <a:xfrm>
            <a:off x="5444298" y="2100201"/>
            <a:ext cx="530096" cy="546116"/>
          </a:xfrm>
          <a:prstGeom prst="rect">
            <a:avLst/>
          </a:prstGeom>
        </p:spPr>
      </p:pic>
      <p:pic>
        <p:nvPicPr>
          <p:cNvPr id="41" name="Picture 40" descr="Vpn Icon Vector Virtual Private Network Stock Vector (Royalty Free)  1521229949 | Shutterstock">
            <a:extLst>
              <a:ext uri="{FF2B5EF4-FFF2-40B4-BE49-F238E27FC236}">
                <a16:creationId xmlns:a16="http://schemas.microsoft.com/office/drawing/2014/main" id="{73286D37-B205-18DA-E218-0D2692A15E75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22308" t="19874" r="22213" b="26823"/>
          <a:stretch>
            <a:fillRect/>
          </a:stretch>
        </p:blipFill>
        <p:spPr>
          <a:xfrm>
            <a:off x="7579866" y="2884889"/>
            <a:ext cx="536360" cy="554957"/>
          </a:xfrm>
          <a:prstGeom prst="rect">
            <a:avLst/>
          </a:prstGeom>
        </p:spPr>
      </p:pic>
      <p:pic>
        <p:nvPicPr>
          <p:cNvPr id="43" name="Picture 42" descr="DDNS Monogram in Globe Outline Style on Background Network Concept 71258750  Vector Art at Vecteezy">
            <a:extLst>
              <a:ext uri="{FF2B5EF4-FFF2-40B4-BE49-F238E27FC236}">
                <a16:creationId xmlns:a16="http://schemas.microsoft.com/office/drawing/2014/main" id="{B3B1E53D-30E7-04B9-3E57-F2622343A918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19264" t="19134" r="19667" b="18843"/>
          <a:stretch>
            <a:fillRect/>
          </a:stretch>
        </p:blipFill>
        <p:spPr>
          <a:xfrm>
            <a:off x="7613142" y="2134683"/>
            <a:ext cx="469808" cy="477149"/>
          </a:xfrm>
          <a:prstGeom prst="rect">
            <a:avLst/>
          </a:prstGeom>
        </p:spPr>
      </p:pic>
      <p:pic>
        <p:nvPicPr>
          <p:cNvPr id="44" name="Picture 43" descr="Internet-cloud Clip Art at Clker.com - vector clip art online, royalty free  &amp; public domain">
            <a:extLst>
              <a:ext uri="{FF2B5EF4-FFF2-40B4-BE49-F238E27FC236}">
                <a16:creationId xmlns:a16="http://schemas.microsoft.com/office/drawing/2014/main" id="{938792CA-672F-EE53-E6FB-A2FF3EA3551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238160" y="1891662"/>
            <a:ext cx="1125268" cy="963193"/>
          </a:xfrm>
          <a:prstGeom prst="rect">
            <a:avLst/>
          </a:prstGeom>
        </p:spPr>
      </p:pic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57C9821-C382-DD60-1169-F88F7D34A950}"/>
              </a:ext>
            </a:extLst>
          </p:cNvPr>
          <p:cNvCxnSpPr>
            <a:cxnSpLocks/>
            <a:stCxn id="154" idx="3"/>
            <a:endCxn id="44" idx="1"/>
          </p:cNvCxnSpPr>
          <p:nvPr/>
        </p:nvCxnSpPr>
        <p:spPr>
          <a:xfrm>
            <a:off x="1925793" y="2373259"/>
            <a:ext cx="1312367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27863FE8-4FCF-E7DD-E692-A93BE8C130A3}"/>
              </a:ext>
            </a:extLst>
          </p:cNvPr>
          <p:cNvCxnSpPr>
            <a:stCxn id="44" idx="3"/>
            <a:endCxn id="39" idx="1"/>
          </p:cNvCxnSpPr>
          <p:nvPr/>
        </p:nvCxnSpPr>
        <p:spPr>
          <a:xfrm>
            <a:off x="4363428" y="2373259"/>
            <a:ext cx="1080870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Rectangle 144">
            <a:extLst>
              <a:ext uri="{FF2B5EF4-FFF2-40B4-BE49-F238E27FC236}">
                <a16:creationId xmlns:a16="http://schemas.microsoft.com/office/drawing/2014/main" id="{0F618E43-4E22-260D-117A-5B9599EE3788}"/>
              </a:ext>
            </a:extLst>
          </p:cNvPr>
          <p:cNvSpPr/>
          <p:nvPr/>
        </p:nvSpPr>
        <p:spPr>
          <a:xfrm>
            <a:off x="2247481" y="102322"/>
            <a:ext cx="1819071" cy="169868"/>
          </a:xfrm>
          <a:prstGeom prst="rect">
            <a:avLst/>
          </a:prstGeom>
          <a:solidFill>
            <a:srgbClr val="2C2A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chemeClr val="bg2"/>
                </a:solidFill>
              </a:rPr>
              <a:t>END USER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2EB0A75F-036B-3C34-1797-1CE34DF9B4FF}"/>
              </a:ext>
            </a:extLst>
          </p:cNvPr>
          <p:cNvSpPr/>
          <p:nvPr/>
        </p:nvSpPr>
        <p:spPr>
          <a:xfrm>
            <a:off x="7077989" y="4719989"/>
            <a:ext cx="1561867" cy="180521"/>
          </a:xfrm>
          <a:prstGeom prst="rect">
            <a:avLst/>
          </a:prstGeom>
          <a:solidFill>
            <a:srgbClr val="2C2A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</a:rPr>
              <a:t>RASPBERRY PI</a:t>
            </a:r>
            <a:endParaRPr lang="ro-RO" dirty="0">
              <a:solidFill>
                <a:schemeClr val="bg2"/>
              </a:solidFill>
            </a:endParaRPr>
          </a:p>
        </p:txBody>
      </p:sp>
      <p:pic>
        <p:nvPicPr>
          <p:cNvPr id="154" name="Picture 153">
            <a:extLst>
              <a:ext uri="{FF2B5EF4-FFF2-40B4-BE49-F238E27FC236}">
                <a16:creationId xmlns:a16="http://schemas.microsoft.com/office/drawing/2014/main" id="{B0A227C4-632D-1A2D-E46E-F35F9E761C02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20618" t="19144" r="20030" b="20425"/>
          <a:stretch>
            <a:fillRect/>
          </a:stretch>
        </p:blipFill>
        <p:spPr>
          <a:xfrm>
            <a:off x="1389433" y="2100201"/>
            <a:ext cx="536360" cy="546116"/>
          </a:xfrm>
          <a:prstGeom prst="rect">
            <a:avLst/>
          </a:prstGeom>
        </p:spPr>
      </p:pic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EEB4A659-83F3-5643-3413-454A3C21D4F7}"/>
              </a:ext>
            </a:extLst>
          </p:cNvPr>
          <p:cNvCxnSpPr>
            <a:cxnSpLocks/>
            <a:endCxn id="47" idx="2"/>
          </p:cNvCxnSpPr>
          <p:nvPr/>
        </p:nvCxnSpPr>
        <p:spPr>
          <a:xfrm flipV="1">
            <a:off x="1923037" y="1312502"/>
            <a:ext cx="867369" cy="787699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Cell Phone Vector Icon 351222 Vector Art at Vecteezy">
            <a:extLst>
              <a:ext uri="{FF2B5EF4-FFF2-40B4-BE49-F238E27FC236}">
                <a16:creationId xmlns:a16="http://schemas.microsoft.com/office/drawing/2014/main" id="{33B27505-8A05-4004-642A-A40671F3549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281580" y="429268"/>
            <a:ext cx="655544" cy="655544"/>
          </a:xfrm>
          <a:prstGeom prst="rect">
            <a:avLst/>
          </a:prstGeom>
        </p:spPr>
      </p:pic>
      <p:pic>
        <p:nvPicPr>
          <p:cNvPr id="10" name="Picture 9" descr="HomeAssistant Local - Free download and install on Windows | Microsoft Store">
            <a:extLst>
              <a:ext uri="{FF2B5EF4-FFF2-40B4-BE49-F238E27FC236}">
                <a16:creationId xmlns:a16="http://schemas.microsoft.com/office/drawing/2014/main" id="{3C645DD9-08EC-03AD-A699-6683CA755374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l="34399" r="38423" b="12384"/>
          <a:stretch>
            <a:fillRect/>
          </a:stretch>
        </p:blipFill>
        <p:spPr>
          <a:xfrm>
            <a:off x="3479968" y="526790"/>
            <a:ext cx="258383" cy="452827"/>
          </a:xfrm>
          <a:prstGeom prst="rect">
            <a:avLst/>
          </a:prstGeom>
        </p:spPr>
      </p:pic>
      <p:pic>
        <p:nvPicPr>
          <p:cNvPr id="37" name="Picture 2" descr="Picture 5 of 6"/>
          <p:cNvPicPr>
            <a:picLocks noChangeAspect="1" noChangeArrowheads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6" t="12226" r="14444" b="12268"/>
          <a:stretch/>
        </p:blipFill>
        <p:spPr bwMode="auto">
          <a:xfrm>
            <a:off x="740249" y="320862"/>
            <a:ext cx="858344" cy="888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EB4A659-83F3-5643-3413-454A3C21D4F7}"/>
              </a:ext>
            </a:extLst>
          </p:cNvPr>
          <p:cNvCxnSpPr>
            <a:cxnSpLocks/>
            <a:stCxn id="47" idx="1"/>
            <a:endCxn id="37" idx="3"/>
          </p:cNvCxnSpPr>
          <p:nvPr/>
        </p:nvCxnSpPr>
        <p:spPr>
          <a:xfrm flipH="1" flipV="1">
            <a:off x="1598593" y="764948"/>
            <a:ext cx="648888" cy="4629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Picture 45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922982" y="729156"/>
            <a:ext cx="100413" cy="55767"/>
          </a:xfrm>
          <a:prstGeom prst="rect">
            <a:avLst/>
          </a:prstGeom>
        </p:spPr>
      </p:pic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27863FE8-4FCF-E7DD-E692-A93BE8C130A3}"/>
              </a:ext>
            </a:extLst>
          </p:cNvPr>
          <p:cNvCxnSpPr>
            <a:stCxn id="43" idx="1"/>
            <a:endCxn id="39" idx="3"/>
          </p:cNvCxnSpPr>
          <p:nvPr/>
        </p:nvCxnSpPr>
        <p:spPr>
          <a:xfrm flipH="1">
            <a:off x="5974394" y="2373258"/>
            <a:ext cx="1638748" cy="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27863FE8-4FCF-E7DD-E692-A93BE8C130A3}"/>
              </a:ext>
            </a:extLst>
          </p:cNvPr>
          <p:cNvCxnSpPr>
            <a:stCxn id="43" idx="2"/>
            <a:endCxn id="41" idx="0"/>
          </p:cNvCxnSpPr>
          <p:nvPr/>
        </p:nvCxnSpPr>
        <p:spPr>
          <a:xfrm>
            <a:off x="7848046" y="2611832"/>
            <a:ext cx="0" cy="27305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27863FE8-4FCF-E7DD-E692-A93BE8C130A3}"/>
              </a:ext>
            </a:extLst>
          </p:cNvPr>
          <p:cNvCxnSpPr>
            <a:stCxn id="41" idx="2"/>
            <a:endCxn id="16" idx="0"/>
          </p:cNvCxnSpPr>
          <p:nvPr/>
        </p:nvCxnSpPr>
        <p:spPr>
          <a:xfrm>
            <a:off x="7848046" y="3439846"/>
            <a:ext cx="0" cy="20185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91865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 descr="HCL:Raspberry Pi4 - openSUSE Wiki">
            <a:extLst>
              <a:ext uri="{FF2B5EF4-FFF2-40B4-BE49-F238E27FC236}">
                <a16:creationId xmlns:a16="http://schemas.microsoft.com/office/drawing/2014/main" id="{683CCD84-4E35-9743-34CF-663E828BA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6456" y="3603966"/>
            <a:ext cx="397432" cy="263076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5670F53C-2966-D5BD-F5AD-0C5910EECD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618" t="19144" r="20030" b="20425"/>
          <a:stretch>
            <a:fillRect/>
          </a:stretch>
        </p:blipFill>
        <p:spPr>
          <a:xfrm>
            <a:off x="7620086" y="1835840"/>
            <a:ext cx="134607" cy="137055"/>
          </a:xfrm>
          <a:prstGeom prst="rect">
            <a:avLst/>
          </a:prstGeom>
        </p:spPr>
      </p:pic>
      <p:pic>
        <p:nvPicPr>
          <p:cNvPr id="42" name="Picture 41" descr="Vpn Icon Vector Virtual Private Network Stock Vector (Royalty Free)  1521229949 | Shutterstock">
            <a:extLst>
              <a:ext uri="{FF2B5EF4-FFF2-40B4-BE49-F238E27FC236}">
                <a16:creationId xmlns:a16="http://schemas.microsoft.com/office/drawing/2014/main" id="{80261756-73BC-6AD3-9604-D19B1D43DE7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308" t="19874" r="22213" b="26823"/>
          <a:stretch>
            <a:fillRect/>
          </a:stretch>
        </p:blipFill>
        <p:spPr>
          <a:xfrm>
            <a:off x="7613142" y="3004811"/>
            <a:ext cx="134607" cy="139274"/>
          </a:xfrm>
          <a:prstGeom prst="rect">
            <a:avLst/>
          </a:prstGeom>
        </p:spPr>
      </p:pic>
      <p:pic>
        <p:nvPicPr>
          <p:cNvPr id="43" name="Picture 42" descr="DDNS Monogram in Globe Outline Style on Background Network Concept 71258750  Vector Art at Vecteezy">
            <a:extLst>
              <a:ext uri="{FF2B5EF4-FFF2-40B4-BE49-F238E27FC236}">
                <a16:creationId xmlns:a16="http://schemas.microsoft.com/office/drawing/2014/main" id="{E33E26E7-4E29-E17A-F2AB-99CF9F40788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9264" t="19134" r="19667" b="18843"/>
          <a:stretch>
            <a:fillRect/>
          </a:stretch>
        </p:blipFill>
        <p:spPr>
          <a:xfrm>
            <a:off x="7646418" y="2468586"/>
            <a:ext cx="117905" cy="119747"/>
          </a:xfrm>
          <a:prstGeom prst="rect">
            <a:avLst/>
          </a:prstGeom>
        </p:spPr>
      </p:pic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B6DCAB7-EE2D-C1BA-ED45-243C20D0022F}"/>
              </a:ext>
            </a:extLst>
          </p:cNvPr>
          <p:cNvCxnSpPr>
            <a:endCxn id="41" idx="1"/>
          </p:cNvCxnSpPr>
          <p:nvPr/>
        </p:nvCxnSpPr>
        <p:spPr>
          <a:xfrm flipV="1">
            <a:off x="5134634" y="1904368"/>
            <a:ext cx="2485452" cy="746526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5B4C11EE-F3AC-5B6D-CCC8-66F6AAE661C6}"/>
              </a:ext>
            </a:extLst>
          </p:cNvPr>
          <p:cNvSpPr/>
          <p:nvPr/>
        </p:nvSpPr>
        <p:spPr>
          <a:xfrm>
            <a:off x="7118209" y="4704852"/>
            <a:ext cx="391973" cy="45719"/>
          </a:xfrm>
          <a:prstGeom prst="rect">
            <a:avLst/>
          </a:prstGeom>
          <a:solidFill>
            <a:srgbClr val="2C2A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</a:rPr>
              <a:t>RASPBERRY PI</a:t>
            </a:r>
            <a:endParaRPr lang="ro-RO" dirty="0">
              <a:solidFill>
                <a:schemeClr val="bg2"/>
              </a:solidFill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8079D97-BC1A-73E8-575C-54E6F1AA867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8950" t="27362" r="9222" b="18247"/>
          <a:stretch>
            <a:fillRect/>
          </a:stretch>
        </p:blipFill>
        <p:spPr>
          <a:xfrm>
            <a:off x="3062343" y="3645159"/>
            <a:ext cx="206316" cy="137138"/>
          </a:xfrm>
          <a:prstGeom prst="rect">
            <a:avLst/>
          </a:prstGeom>
        </p:spPr>
      </p:pic>
      <p:pic>
        <p:nvPicPr>
          <p:cNvPr id="30" name="Picture 29" descr="BME680 sensor, temperature humidity sensor CJMCU-680 pressure height  development board Ultra-small : Amazon.com.be: Automotive">
            <a:extLst>
              <a:ext uri="{FF2B5EF4-FFF2-40B4-BE49-F238E27FC236}">
                <a16:creationId xmlns:a16="http://schemas.microsoft.com/office/drawing/2014/main" id="{0BDB25A9-0E2E-2EE2-EAAB-9D7E41F9DAF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41866"/>
          <a:stretch>
            <a:fillRect/>
          </a:stretch>
        </p:blipFill>
        <p:spPr>
          <a:xfrm rot="16200000">
            <a:off x="3216617" y="2667077"/>
            <a:ext cx="151500" cy="133243"/>
          </a:xfrm>
          <a:prstGeom prst="rect">
            <a:avLst/>
          </a:prstGeom>
        </p:spPr>
      </p:pic>
      <p:pic>
        <p:nvPicPr>
          <p:cNvPr id="31" name="Picture 30" descr="1 relay module 5 Vdc 10A (assembled) — Arduino Online Shop">
            <a:extLst>
              <a:ext uri="{FF2B5EF4-FFF2-40B4-BE49-F238E27FC236}">
                <a16:creationId xmlns:a16="http://schemas.microsoft.com/office/drawing/2014/main" id="{086C11F7-0CC4-77AD-E5CE-AB7F5207399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1545" t="11514" r="19710" b="11514"/>
          <a:stretch>
            <a:fillRect/>
          </a:stretch>
        </p:blipFill>
        <p:spPr>
          <a:xfrm>
            <a:off x="1876974" y="3625200"/>
            <a:ext cx="187664" cy="147399"/>
          </a:xfrm>
          <a:prstGeom prst="rect">
            <a:avLst/>
          </a:prstGeom>
        </p:spPr>
      </p:pic>
      <p:pic>
        <p:nvPicPr>
          <p:cNvPr id="32" name="Picture 31" descr="top-down view of a PM2.5 dust sensor with a small cooling fan clearly visible, electronic component on a clean white background">
            <a:extLst>
              <a:ext uri="{FF2B5EF4-FFF2-40B4-BE49-F238E27FC236}">
                <a16:creationId xmlns:a16="http://schemas.microsoft.com/office/drawing/2014/main" id="{468B56CA-A728-B9A5-B4EA-88E97F95A3DC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4882" t="18626" r="12569" b="15955"/>
          <a:stretch>
            <a:fillRect/>
          </a:stretch>
        </p:blipFill>
        <p:spPr>
          <a:xfrm>
            <a:off x="1794116" y="2571750"/>
            <a:ext cx="224966" cy="190306"/>
          </a:xfrm>
          <a:prstGeom prst="rect">
            <a:avLst/>
          </a:prstGeom>
        </p:spPr>
      </p:pic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92674AA-9368-8252-FB72-7FCB72AECBBB}"/>
              </a:ext>
            </a:extLst>
          </p:cNvPr>
          <p:cNvCxnSpPr>
            <a:cxnSpLocks/>
            <a:stCxn id="29" idx="3"/>
            <a:endCxn id="38" idx="1"/>
          </p:cNvCxnSpPr>
          <p:nvPr/>
        </p:nvCxnSpPr>
        <p:spPr>
          <a:xfrm>
            <a:off x="3268659" y="3713728"/>
            <a:ext cx="979050" cy="2446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368A6FF-5D5E-414E-ECCD-24CF8BDAE787}"/>
              </a:ext>
            </a:extLst>
          </p:cNvPr>
          <p:cNvCxnSpPr>
            <a:cxnSpLocks/>
            <a:stCxn id="30" idx="1"/>
            <a:endCxn id="29" idx="0"/>
          </p:cNvCxnSpPr>
          <p:nvPr/>
        </p:nvCxnSpPr>
        <p:spPr>
          <a:xfrm flipH="1">
            <a:off x="3165501" y="2809449"/>
            <a:ext cx="126867" cy="8357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BA1D9C6-87C1-F46B-DB7D-6D2A26127C90}"/>
              </a:ext>
            </a:extLst>
          </p:cNvPr>
          <p:cNvCxnSpPr>
            <a:cxnSpLocks/>
          </p:cNvCxnSpPr>
          <p:nvPr/>
        </p:nvCxnSpPr>
        <p:spPr>
          <a:xfrm>
            <a:off x="2793552" y="3417204"/>
            <a:ext cx="19342" cy="604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A7E7E0A-3A65-36D3-FC3F-B43E06125618}"/>
              </a:ext>
            </a:extLst>
          </p:cNvPr>
          <p:cNvCxnSpPr>
            <a:cxnSpLocks/>
            <a:stCxn id="31" idx="3"/>
            <a:endCxn id="29" idx="1"/>
          </p:cNvCxnSpPr>
          <p:nvPr/>
        </p:nvCxnSpPr>
        <p:spPr>
          <a:xfrm>
            <a:off x="2064638" y="3698900"/>
            <a:ext cx="997705" cy="148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078C5629-EC6E-90E6-F94F-473E2CB74C94}"/>
              </a:ext>
            </a:extLst>
          </p:cNvPr>
          <p:cNvSpPr/>
          <p:nvPr/>
        </p:nvSpPr>
        <p:spPr>
          <a:xfrm>
            <a:off x="3101837" y="4282302"/>
            <a:ext cx="54684" cy="54170"/>
          </a:xfrm>
          <a:prstGeom prst="rect">
            <a:avLst/>
          </a:prstGeom>
          <a:solidFill>
            <a:srgbClr val="2C2A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chemeClr val="bg2"/>
                </a:solidFill>
              </a:rPr>
              <a:t>ESP32</a:t>
            </a:r>
            <a:endParaRPr lang="es-ES" dirty="0">
              <a:solidFill>
                <a:schemeClr val="bg2"/>
              </a:solidFill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9A64DAEF-302B-80F5-82E5-7BC049A528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618" t="19144" r="20030" b="20425"/>
          <a:stretch>
            <a:fillRect/>
          </a:stretch>
        </p:blipFill>
        <p:spPr>
          <a:xfrm>
            <a:off x="4247709" y="3676725"/>
            <a:ext cx="120731" cy="122927"/>
          </a:xfrm>
          <a:prstGeom prst="rect">
            <a:avLst/>
          </a:prstGeom>
        </p:spPr>
      </p:pic>
      <p:pic>
        <p:nvPicPr>
          <p:cNvPr id="10" name="Picture 9" descr="Laptop illustration Images - Free Download on Freepik">
            <a:extLst>
              <a:ext uri="{FF2B5EF4-FFF2-40B4-BE49-F238E27FC236}">
                <a16:creationId xmlns:a16="http://schemas.microsoft.com/office/drawing/2014/main" id="{7AE5D977-6A93-1945-0C93-F6DA97CE63F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30750" y="261233"/>
            <a:ext cx="1251542" cy="125154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A6B1EB3-5FEB-B2AE-5780-94D6C4240646}"/>
              </a:ext>
            </a:extLst>
          </p:cNvPr>
          <p:cNvSpPr/>
          <p:nvPr/>
        </p:nvSpPr>
        <p:spPr>
          <a:xfrm>
            <a:off x="426236" y="155875"/>
            <a:ext cx="7859469" cy="177321"/>
          </a:xfrm>
          <a:prstGeom prst="rect">
            <a:avLst/>
          </a:prstGeom>
          <a:solidFill>
            <a:srgbClr val="2C2A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chemeClr val="bg2"/>
                </a:solidFill>
              </a:rPr>
              <a:t>END USER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BB1BC31-E485-9F05-ECDF-359854570A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618" t="19144" r="20030" b="20425"/>
          <a:stretch>
            <a:fillRect/>
          </a:stretch>
        </p:blipFill>
        <p:spPr>
          <a:xfrm>
            <a:off x="5225138" y="634229"/>
            <a:ext cx="536360" cy="546116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5D82D9DF-837C-76E0-E5F4-7453768B8647}"/>
              </a:ext>
            </a:extLst>
          </p:cNvPr>
          <p:cNvGrpSpPr/>
          <p:nvPr/>
        </p:nvGrpSpPr>
        <p:grpSpPr>
          <a:xfrm rot="13394948" flipH="1">
            <a:off x="7662663" y="-267530"/>
            <a:ext cx="2512329" cy="535061"/>
            <a:chOff x="6832729" y="4316100"/>
            <a:chExt cx="3226204" cy="890547"/>
          </a:xfrm>
        </p:grpSpPr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1330CA2C-4DBD-BE5A-C3C2-B3741D1C99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flipH="1">
              <a:off x="6832729" y="4316100"/>
              <a:ext cx="2724237" cy="815572"/>
            </a:xfrm>
            <a:prstGeom prst="rect">
              <a:avLst/>
            </a:prstGeom>
          </p:spPr>
        </p:pic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A5C351BC-D017-0825-AB8F-DF094C1616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=""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flipH="1">
              <a:off x="7286058" y="4446019"/>
              <a:ext cx="2319946" cy="695228"/>
            </a:xfrm>
            <a:prstGeom prst="rect">
              <a:avLst/>
            </a:prstGeom>
          </p:spPr>
        </p:pic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7C6F7875-AF83-18B6-92F1-7C1864EF55F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=""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 flipH="1">
              <a:off x="8058080" y="4594703"/>
              <a:ext cx="2000853" cy="611944"/>
            </a:xfrm>
            <a:prstGeom prst="rect">
              <a:avLst/>
            </a:prstGeom>
          </p:spPr>
        </p:pic>
      </p:grpSp>
      <p:pic>
        <p:nvPicPr>
          <p:cNvPr id="55" name="Picture 54" descr="Cell Phone Vector Icon 351222 Vector Art at Vecteezy">
            <a:extLst>
              <a:ext uri="{FF2B5EF4-FFF2-40B4-BE49-F238E27FC236}">
                <a16:creationId xmlns:a16="http://schemas.microsoft.com/office/drawing/2014/main" id="{DD807FE7-9EFF-BC4F-4961-EBCD15378C88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l="25871" t="1" r="26746" b="2036"/>
          <a:stretch>
            <a:fillRect/>
          </a:stretch>
        </p:blipFill>
        <p:spPr>
          <a:xfrm>
            <a:off x="4281399" y="595282"/>
            <a:ext cx="310616" cy="642193"/>
          </a:xfrm>
          <a:prstGeom prst="rect">
            <a:avLst/>
          </a:prstGeom>
        </p:spPr>
      </p:pic>
      <p:pic>
        <p:nvPicPr>
          <p:cNvPr id="23" name="Picture 22" descr="HomeAssistant Local - Free download and install on Windows | Microsoft Store">
            <a:extLst>
              <a:ext uri="{FF2B5EF4-FFF2-40B4-BE49-F238E27FC236}">
                <a16:creationId xmlns:a16="http://schemas.microsoft.com/office/drawing/2014/main" id="{08971791-C585-B8AF-11A4-12F62E426FC9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58139" y="1408553"/>
            <a:ext cx="6827721" cy="3711761"/>
          </a:xfrm>
          <a:prstGeom prst="rect">
            <a:avLst/>
          </a:prstGeom>
        </p:spPr>
      </p:pic>
      <p:pic>
        <p:nvPicPr>
          <p:cNvPr id="27" name="Picture 26"/>
          <p:cNvPicPr preferRelativeResize="0">
            <a:picLocks/>
          </p:cNvPicPr>
          <p:nvPr/>
        </p:nvPicPr>
        <p:blipFill>
          <a:blip r:embed="rId19"/>
          <a:stretch>
            <a:fillRect/>
          </a:stretch>
        </p:blipFill>
        <p:spPr>
          <a:xfrm rot="1302886">
            <a:off x="3099258" y="646544"/>
            <a:ext cx="431728" cy="282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9623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AD293982-5FC6-5B93-5A88-4EACBCD84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46" descr="Laptop illustration Images - Free Download on Freepik">
            <a:extLst>
              <a:ext uri="{FF2B5EF4-FFF2-40B4-BE49-F238E27FC236}">
                <a16:creationId xmlns:a16="http://schemas.microsoft.com/office/drawing/2014/main" id="{E01CE3E9-0608-7A82-8922-B9A81EFD87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481" y="226652"/>
            <a:ext cx="1085850" cy="1085850"/>
          </a:xfrm>
          <a:prstGeom prst="rect">
            <a:avLst/>
          </a:prstGeom>
        </p:spPr>
      </p:pic>
      <p:pic>
        <p:nvPicPr>
          <p:cNvPr id="35" name="Picture 34"/>
          <p:cNvPicPr preferRelativeResize="0">
            <a:picLocks/>
          </p:cNvPicPr>
          <p:nvPr/>
        </p:nvPicPr>
        <p:blipFill>
          <a:blip r:embed="rId4"/>
          <a:stretch>
            <a:fillRect/>
          </a:stretch>
        </p:blipFill>
        <p:spPr>
          <a:xfrm rot="1302886">
            <a:off x="2741115" y="533560"/>
            <a:ext cx="328946" cy="244903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5AD00005-0CD0-1EBD-FE36-451FD7371D7E}"/>
              </a:ext>
            </a:extLst>
          </p:cNvPr>
          <p:cNvGrpSpPr/>
          <p:nvPr/>
        </p:nvGrpSpPr>
        <p:grpSpPr>
          <a:xfrm rot="286956" flipH="1">
            <a:off x="-665445" y="4832284"/>
            <a:ext cx="2255027" cy="622431"/>
            <a:chOff x="6831797" y="4315899"/>
            <a:chExt cx="3227133" cy="890751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BDE7D23B-A9E7-A416-7D33-5F188F68A16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>
              <a:off x="6831797" y="4315899"/>
              <a:ext cx="2724237" cy="815572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090E3FE5-6D93-69A7-479B-3FE2178211F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>
              <a:off x="7286061" y="4446016"/>
              <a:ext cx="2319946" cy="695226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60CBEF2B-018B-C75B-B53A-118201D8111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flipH="1">
              <a:off x="8058078" y="4594705"/>
              <a:ext cx="2000852" cy="611945"/>
            </a:xfrm>
            <a:prstGeom prst="rect">
              <a:avLst/>
            </a:prstGeom>
          </p:spPr>
        </p:pic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986A6700-C279-F881-C3F4-6DA280BC46FA}"/>
              </a:ext>
            </a:extLst>
          </p:cNvPr>
          <p:cNvGrpSpPr/>
          <p:nvPr/>
        </p:nvGrpSpPr>
        <p:grpSpPr>
          <a:xfrm rot="12651836" flipH="1">
            <a:off x="7633589" y="-17008"/>
            <a:ext cx="2254378" cy="622288"/>
            <a:chOff x="6832729" y="4316100"/>
            <a:chExt cx="3226204" cy="890547"/>
          </a:xfrm>
        </p:grpSpPr>
        <p:pic>
          <p:nvPicPr>
            <p:cNvPr id="53" name="Graphic 52">
              <a:extLst>
                <a:ext uri="{FF2B5EF4-FFF2-40B4-BE49-F238E27FC236}">
                  <a16:creationId xmlns:a16="http://schemas.microsoft.com/office/drawing/2014/main" id="{CE7E0484-5CA2-608B-0EF5-E32B109EC8C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>
              <a:off x="6832729" y="4316100"/>
              <a:ext cx="2724237" cy="815572"/>
            </a:xfrm>
            <a:prstGeom prst="rect">
              <a:avLst/>
            </a:prstGeom>
          </p:spPr>
        </p:pic>
        <p:pic>
          <p:nvPicPr>
            <p:cNvPr id="54" name="Graphic 53">
              <a:extLst>
                <a:ext uri="{FF2B5EF4-FFF2-40B4-BE49-F238E27FC236}">
                  <a16:creationId xmlns:a16="http://schemas.microsoft.com/office/drawing/2014/main" id="{52BBBBAD-BA7D-DFFF-300C-3A2436D2169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>
              <a:off x="7286058" y="4446019"/>
              <a:ext cx="2319946" cy="695228"/>
            </a:xfrm>
            <a:prstGeom prst="rect">
              <a:avLst/>
            </a:prstGeom>
          </p:spPr>
        </p:pic>
        <p:pic>
          <p:nvPicPr>
            <p:cNvPr id="55" name="Graphic 54">
              <a:extLst>
                <a:ext uri="{FF2B5EF4-FFF2-40B4-BE49-F238E27FC236}">
                  <a16:creationId xmlns:a16="http://schemas.microsoft.com/office/drawing/2014/main" id="{87388A02-2A19-654F-D86D-D9DD5BFA280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flipH="1">
              <a:off x="8058080" y="4594703"/>
              <a:ext cx="2000853" cy="611944"/>
            </a:xfrm>
            <a:prstGeom prst="rect">
              <a:avLst/>
            </a:prstGeom>
          </p:spPr>
        </p:pic>
      </p:grpSp>
      <p:pic>
        <p:nvPicPr>
          <p:cNvPr id="16" name="Picture 15" descr="HCL:Raspberry Pi4 - openSUSE Wiki">
            <a:extLst>
              <a:ext uri="{FF2B5EF4-FFF2-40B4-BE49-F238E27FC236}">
                <a16:creationId xmlns:a16="http://schemas.microsoft.com/office/drawing/2014/main" id="{28ADA9B8-B436-7E8A-C0FD-205ECDC16ED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56236" y="3641701"/>
            <a:ext cx="1583620" cy="1048259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7665C089-F937-AB76-BC07-7C3763ADA606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20618" t="19144" r="20030" b="20425"/>
          <a:stretch>
            <a:fillRect/>
          </a:stretch>
        </p:blipFill>
        <p:spPr>
          <a:xfrm>
            <a:off x="5444298" y="2100201"/>
            <a:ext cx="530096" cy="546116"/>
          </a:xfrm>
          <a:prstGeom prst="rect">
            <a:avLst/>
          </a:prstGeom>
        </p:spPr>
      </p:pic>
      <p:pic>
        <p:nvPicPr>
          <p:cNvPr id="41" name="Picture 40" descr="Vpn Icon Vector Virtual Private Network Stock Vector (Royalty Free)  1521229949 | Shutterstock">
            <a:extLst>
              <a:ext uri="{FF2B5EF4-FFF2-40B4-BE49-F238E27FC236}">
                <a16:creationId xmlns:a16="http://schemas.microsoft.com/office/drawing/2014/main" id="{73286D37-B205-18DA-E218-0D2692A15E75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22308" t="19874" r="22213" b="26823"/>
          <a:stretch>
            <a:fillRect/>
          </a:stretch>
        </p:blipFill>
        <p:spPr>
          <a:xfrm>
            <a:off x="7579866" y="2884889"/>
            <a:ext cx="536360" cy="554957"/>
          </a:xfrm>
          <a:prstGeom prst="rect">
            <a:avLst/>
          </a:prstGeom>
        </p:spPr>
      </p:pic>
      <p:pic>
        <p:nvPicPr>
          <p:cNvPr id="43" name="Picture 42" descr="DDNS Monogram in Globe Outline Style on Background Network Concept 71258750  Vector Art at Vecteezy">
            <a:extLst>
              <a:ext uri="{FF2B5EF4-FFF2-40B4-BE49-F238E27FC236}">
                <a16:creationId xmlns:a16="http://schemas.microsoft.com/office/drawing/2014/main" id="{B3B1E53D-30E7-04B9-3E57-F2622343A918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19264" t="19134" r="19667" b="18843"/>
          <a:stretch>
            <a:fillRect/>
          </a:stretch>
        </p:blipFill>
        <p:spPr>
          <a:xfrm>
            <a:off x="7613142" y="2134683"/>
            <a:ext cx="469808" cy="477149"/>
          </a:xfrm>
          <a:prstGeom prst="rect">
            <a:avLst/>
          </a:prstGeom>
        </p:spPr>
      </p:pic>
      <p:pic>
        <p:nvPicPr>
          <p:cNvPr id="44" name="Picture 43" descr="Internet-cloud Clip Art at Clker.com - vector clip art online, royalty free  &amp; public domain">
            <a:extLst>
              <a:ext uri="{FF2B5EF4-FFF2-40B4-BE49-F238E27FC236}">
                <a16:creationId xmlns:a16="http://schemas.microsoft.com/office/drawing/2014/main" id="{938792CA-672F-EE53-E6FB-A2FF3EA3551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238160" y="1891662"/>
            <a:ext cx="1125268" cy="963193"/>
          </a:xfrm>
          <a:prstGeom prst="rect">
            <a:avLst/>
          </a:prstGeom>
        </p:spPr>
      </p:pic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57C9821-C382-DD60-1169-F88F7D34A950}"/>
              </a:ext>
            </a:extLst>
          </p:cNvPr>
          <p:cNvCxnSpPr>
            <a:cxnSpLocks/>
            <a:stCxn id="154" idx="3"/>
            <a:endCxn id="44" idx="1"/>
          </p:cNvCxnSpPr>
          <p:nvPr/>
        </p:nvCxnSpPr>
        <p:spPr>
          <a:xfrm>
            <a:off x="1925793" y="2373259"/>
            <a:ext cx="1312367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27863FE8-4FCF-E7DD-E692-A93BE8C130A3}"/>
              </a:ext>
            </a:extLst>
          </p:cNvPr>
          <p:cNvCxnSpPr>
            <a:stCxn id="44" idx="3"/>
            <a:endCxn id="39" idx="1"/>
          </p:cNvCxnSpPr>
          <p:nvPr/>
        </p:nvCxnSpPr>
        <p:spPr>
          <a:xfrm>
            <a:off x="4363428" y="2373259"/>
            <a:ext cx="1080870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Rectangle 144">
            <a:extLst>
              <a:ext uri="{FF2B5EF4-FFF2-40B4-BE49-F238E27FC236}">
                <a16:creationId xmlns:a16="http://schemas.microsoft.com/office/drawing/2014/main" id="{0F618E43-4E22-260D-117A-5B9599EE3788}"/>
              </a:ext>
            </a:extLst>
          </p:cNvPr>
          <p:cNvSpPr/>
          <p:nvPr/>
        </p:nvSpPr>
        <p:spPr>
          <a:xfrm>
            <a:off x="2247481" y="102322"/>
            <a:ext cx="1819071" cy="169868"/>
          </a:xfrm>
          <a:prstGeom prst="rect">
            <a:avLst/>
          </a:prstGeom>
          <a:solidFill>
            <a:srgbClr val="2C2A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chemeClr val="bg2"/>
                </a:solidFill>
              </a:rPr>
              <a:t>END USER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2EB0A75F-036B-3C34-1797-1CE34DF9B4FF}"/>
              </a:ext>
            </a:extLst>
          </p:cNvPr>
          <p:cNvSpPr/>
          <p:nvPr/>
        </p:nvSpPr>
        <p:spPr>
          <a:xfrm>
            <a:off x="7077989" y="4719989"/>
            <a:ext cx="1561867" cy="180521"/>
          </a:xfrm>
          <a:prstGeom prst="rect">
            <a:avLst/>
          </a:prstGeom>
          <a:solidFill>
            <a:srgbClr val="2C2A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</a:rPr>
              <a:t>RASPBERRY PI</a:t>
            </a:r>
            <a:endParaRPr lang="ro-RO" dirty="0">
              <a:solidFill>
                <a:schemeClr val="bg2"/>
              </a:solidFill>
            </a:endParaRPr>
          </a:p>
        </p:txBody>
      </p:sp>
      <p:pic>
        <p:nvPicPr>
          <p:cNvPr id="154" name="Picture 153">
            <a:extLst>
              <a:ext uri="{FF2B5EF4-FFF2-40B4-BE49-F238E27FC236}">
                <a16:creationId xmlns:a16="http://schemas.microsoft.com/office/drawing/2014/main" id="{B0A227C4-632D-1A2D-E46E-F35F9E761C02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20618" t="19144" r="20030" b="20425"/>
          <a:stretch>
            <a:fillRect/>
          </a:stretch>
        </p:blipFill>
        <p:spPr>
          <a:xfrm>
            <a:off x="1389433" y="2100201"/>
            <a:ext cx="536360" cy="546116"/>
          </a:xfrm>
          <a:prstGeom prst="rect">
            <a:avLst/>
          </a:prstGeom>
        </p:spPr>
      </p:pic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EEB4A659-83F3-5643-3413-454A3C21D4F7}"/>
              </a:ext>
            </a:extLst>
          </p:cNvPr>
          <p:cNvCxnSpPr>
            <a:cxnSpLocks/>
            <a:endCxn id="47" idx="2"/>
          </p:cNvCxnSpPr>
          <p:nvPr/>
        </p:nvCxnSpPr>
        <p:spPr>
          <a:xfrm flipV="1">
            <a:off x="1923037" y="1312502"/>
            <a:ext cx="867369" cy="787699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Cell Phone Vector Icon 351222 Vector Art at Vecteezy">
            <a:extLst>
              <a:ext uri="{FF2B5EF4-FFF2-40B4-BE49-F238E27FC236}">
                <a16:creationId xmlns:a16="http://schemas.microsoft.com/office/drawing/2014/main" id="{33B27505-8A05-4004-642A-A40671F3549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281580" y="429268"/>
            <a:ext cx="655544" cy="655544"/>
          </a:xfrm>
          <a:prstGeom prst="rect">
            <a:avLst/>
          </a:prstGeom>
        </p:spPr>
      </p:pic>
      <p:pic>
        <p:nvPicPr>
          <p:cNvPr id="10" name="Picture 9" descr="HomeAssistant Local - Free download and install on Windows | Microsoft Store">
            <a:extLst>
              <a:ext uri="{FF2B5EF4-FFF2-40B4-BE49-F238E27FC236}">
                <a16:creationId xmlns:a16="http://schemas.microsoft.com/office/drawing/2014/main" id="{3C645DD9-08EC-03AD-A699-6683CA755374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l="34399" r="38423" b="12384"/>
          <a:stretch>
            <a:fillRect/>
          </a:stretch>
        </p:blipFill>
        <p:spPr>
          <a:xfrm>
            <a:off x="3479968" y="526790"/>
            <a:ext cx="258383" cy="452827"/>
          </a:xfrm>
          <a:prstGeom prst="rect">
            <a:avLst/>
          </a:prstGeom>
        </p:spPr>
      </p:pic>
      <p:pic>
        <p:nvPicPr>
          <p:cNvPr id="37" name="Picture 2" descr="Picture 5 of 6"/>
          <p:cNvPicPr>
            <a:picLocks noChangeAspect="1" noChangeArrowheads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6" t="12226" r="14444" b="12268"/>
          <a:stretch/>
        </p:blipFill>
        <p:spPr bwMode="auto">
          <a:xfrm>
            <a:off x="740249" y="320862"/>
            <a:ext cx="858344" cy="888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EB4A659-83F3-5643-3413-454A3C21D4F7}"/>
              </a:ext>
            </a:extLst>
          </p:cNvPr>
          <p:cNvCxnSpPr>
            <a:cxnSpLocks/>
            <a:stCxn id="47" idx="1"/>
            <a:endCxn id="37" idx="3"/>
          </p:cNvCxnSpPr>
          <p:nvPr/>
        </p:nvCxnSpPr>
        <p:spPr>
          <a:xfrm flipH="1" flipV="1">
            <a:off x="1598593" y="764948"/>
            <a:ext cx="648888" cy="4629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Picture 45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922982" y="729156"/>
            <a:ext cx="100413" cy="55767"/>
          </a:xfrm>
          <a:prstGeom prst="rect">
            <a:avLst/>
          </a:prstGeom>
        </p:spPr>
      </p:pic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27863FE8-4FCF-E7DD-E692-A93BE8C130A3}"/>
              </a:ext>
            </a:extLst>
          </p:cNvPr>
          <p:cNvCxnSpPr>
            <a:stCxn id="43" idx="1"/>
            <a:endCxn id="39" idx="3"/>
          </p:cNvCxnSpPr>
          <p:nvPr/>
        </p:nvCxnSpPr>
        <p:spPr>
          <a:xfrm flipH="1">
            <a:off x="5974394" y="2373258"/>
            <a:ext cx="1638748" cy="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27863FE8-4FCF-E7DD-E692-A93BE8C130A3}"/>
              </a:ext>
            </a:extLst>
          </p:cNvPr>
          <p:cNvCxnSpPr>
            <a:stCxn id="43" idx="2"/>
            <a:endCxn id="41" idx="0"/>
          </p:cNvCxnSpPr>
          <p:nvPr/>
        </p:nvCxnSpPr>
        <p:spPr>
          <a:xfrm>
            <a:off x="7848046" y="2611832"/>
            <a:ext cx="0" cy="27305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27863FE8-4FCF-E7DD-E692-A93BE8C130A3}"/>
              </a:ext>
            </a:extLst>
          </p:cNvPr>
          <p:cNvCxnSpPr>
            <a:stCxn id="41" idx="2"/>
            <a:endCxn id="16" idx="0"/>
          </p:cNvCxnSpPr>
          <p:nvPr/>
        </p:nvCxnSpPr>
        <p:spPr>
          <a:xfrm>
            <a:off x="7848046" y="3439846"/>
            <a:ext cx="0" cy="20185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77707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A4F50647-55CE-745E-C005-8AD0FAB24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374E590A-58B9-AA5E-E426-CE11F1D19B1F}"/>
              </a:ext>
            </a:extLst>
          </p:cNvPr>
          <p:cNvGrpSpPr/>
          <p:nvPr/>
        </p:nvGrpSpPr>
        <p:grpSpPr>
          <a:xfrm rot="286956" flipH="1">
            <a:off x="-665445" y="4832284"/>
            <a:ext cx="2255027" cy="622431"/>
            <a:chOff x="6831797" y="4315899"/>
            <a:chExt cx="3227133" cy="890751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A784F092-207D-0CF6-0D9B-1D5AB14F23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6831797" y="4315899"/>
              <a:ext cx="2724237" cy="815572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F1852D0D-4584-757B-C5CC-32341FA3D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>
              <a:off x="7286061" y="4446016"/>
              <a:ext cx="2319946" cy="695226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337E8F1B-FF73-AFBC-3EA1-8965ACD456C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>
              <a:off x="8058078" y="4594705"/>
              <a:ext cx="2000852" cy="611945"/>
            </a:xfrm>
            <a:prstGeom prst="rect">
              <a:avLst/>
            </a:prstGeom>
          </p:spPr>
        </p:pic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C159E063-438B-2077-D287-C4DE65182530}"/>
              </a:ext>
            </a:extLst>
          </p:cNvPr>
          <p:cNvGrpSpPr/>
          <p:nvPr/>
        </p:nvGrpSpPr>
        <p:grpSpPr>
          <a:xfrm rot="12651836" flipH="1">
            <a:off x="7633589" y="-17008"/>
            <a:ext cx="2254378" cy="622288"/>
            <a:chOff x="6832729" y="4316100"/>
            <a:chExt cx="3226204" cy="890547"/>
          </a:xfrm>
        </p:grpSpPr>
        <p:pic>
          <p:nvPicPr>
            <p:cNvPr id="53" name="Graphic 52">
              <a:extLst>
                <a:ext uri="{FF2B5EF4-FFF2-40B4-BE49-F238E27FC236}">
                  <a16:creationId xmlns:a16="http://schemas.microsoft.com/office/drawing/2014/main" id="{087E2351-CCE6-CA88-7CC0-B2C962EE97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6832729" y="4316100"/>
              <a:ext cx="2724237" cy="815572"/>
            </a:xfrm>
            <a:prstGeom prst="rect">
              <a:avLst/>
            </a:prstGeom>
          </p:spPr>
        </p:pic>
        <p:pic>
          <p:nvPicPr>
            <p:cNvPr id="54" name="Graphic 53">
              <a:extLst>
                <a:ext uri="{FF2B5EF4-FFF2-40B4-BE49-F238E27FC236}">
                  <a16:creationId xmlns:a16="http://schemas.microsoft.com/office/drawing/2014/main" id="{631E9D5C-3725-2017-1DA7-AFA6A770FE1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>
              <a:off x="7286058" y="4446019"/>
              <a:ext cx="2319946" cy="695228"/>
            </a:xfrm>
            <a:prstGeom prst="rect">
              <a:avLst/>
            </a:prstGeom>
          </p:spPr>
        </p:pic>
        <p:pic>
          <p:nvPicPr>
            <p:cNvPr id="55" name="Graphic 54">
              <a:extLst>
                <a:ext uri="{FF2B5EF4-FFF2-40B4-BE49-F238E27FC236}">
                  <a16:creationId xmlns:a16="http://schemas.microsoft.com/office/drawing/2014/main" id="{5208A01D-2447-F8F7-AF6A-C69DF8CE25F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>
              <a:off x="8058080" y="4594703"/>
              <a:ext cx="2000853" cy="611944"/>
            </a:xfrm>
            <a:prstGeom prst="rect">
              <a:avLst/>
            </a:prstGeom>
          </p:spPr>
        </p:pic>
      </p:grpSp>
      <p:pic>
        <p:nvPicPr>
          <p:cNvPr id="16" name="Picture 15" descr="HCL:Raspberry Pi4 - openSUSE Wiki">
            <a:extLst>
              <a:ext uri="{FF2B5EF4-FFF2-40B4-BE49-F238E27FC236}">
                <a16:creationId xmlns:a16="http://schemas.microsoft.com/office/drawing/2014/main" id="{5CA86540-9DA9-D702-1E87-569A998EA70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4356" y="3244246"/>
            <a:ext cx="1946691" cy="128859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2CCF17DC-B87F-AE4B-17E9-FFE3E2890BC3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20618" t="19144" r="20030" b="20425"/>
          <a:stretch>
            <a:fillRect/>
          </a:stretch>
        </p:blipFill>
        <p:spPr>
          <a:xfrm>
            <a:off x="824538" y="871821"/>
            <a:ext cx="659329" cy="671322"/>
          </a:xfrm>
          <a:prstGeom prst="rect">
            <a:avLst/>
          </a:prstGeom>
        </p:spPr>
      </p:pic>
      <p:pic>
        <p:nvPicPr>
          <p:cNvPr id="41" name="Picture 40" descr="Vpn Icon Vector Virtual Private Network Stock Vector (Royalty Free)  1521229949 | Shutterstock">
            <a:extLst>
              <a:ext uri="{FF2B5EF4-FFF2-40B4-BE49-F238E27FC236}">
                <a16:creationId xmlns:a16="http://schemas.microsoft.com/office/drawing/2014/main" id="{8F5319F5-7896-17BF-CE92-8D7C0EB96806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22308" t="19874" r="22213" b="26823"/>
          <a:stretch>
            <a:fillRect/>
          </a:stretch>
        </p:blipFill>
        <p:spPr>
          <a:xfrm>
            <a:off x="824318" y="2489246"/>
            <a:ext cx="659329" cy="682190"/>
          </a:xfrm>
          <a:prstGeom prst="rect">
            <a:avLst/>
          </a:prstGeom>
        </p:spPr>
      </p:pic>
      <p:pic>
        <p:nvPicPr>
          <p:cNvPr id="43" name="Picture 42" descr="DDNS Monogram in Globe Outline Style on Background Network Concept 71258750  Vector Art at Vecteezy">
            <a:extLst>
              <a:ext uri="{FF2B5EF4-FFF2-40B4-BE49-F238E27FC236}">
                <a16:creationId xmlns:a16="http://schemas.microsoft.com/office/drawing/2014/main" id="{2FC357A3-399F-9B6C-CF04-346F50FE51DD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19264" t="19134" r="19667" b="18843"/>
          <a:stretch>
            <a:fillRect/>
          </a:stretch>
        </p:blipFill>
        <p:spPr>
          <a:xfrm>
            <a:off x="864318" y="1715356"/>
            <a:ext cx="577519" cy="586543"/>
          </a:xfrm>
          <a:prstGeom prst="rect">
            <a:avLst/>
          </a:prstGeom>
        </p:spPr>
      </p:pic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7368B42-FFD9-6374-0FF9-97CB8C298A7C}"/>
              </a:ext>
            </a:extLst>
          </p:cNvPr>
          <p:cNvCxnSpPr>
            <a:cxnSpLocks/>
            <a:stCxn id="154" idx="1"/>
            <a:endCxn id="44" idx="3"/>
          </p:cNvCxnSpPr>
          <p:nvPr/>
        </p:nvCxnSpPr>
        <p:spPr>
          <a:xfrm flipH="1" flipV="1">
            <a:off x="3456738" y="1207403"/>
            <a:ext cx="593998" cy="1536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4" name="Picture 153">
            <a:extLst>
              <a:ext uri="{FF2B5EF4-FFF2-40B4-BE49-F238E27FC236}">
                <a16:creationId xmlns:a16="http://schemas.microsoft.com/office/drawing/2014/main" id="{CAFB9897-6AB8-F856-2BD3-6AC55FDDFA6B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20618" t="19144" r="20030" b="20425"/>
          <a:stretch>
            <a:fillRect/>
          </a:stretch>
        </p:blipFill>
        <p:spPr>
          <a:xfrm>
            <a:off x="4050736" y="935881"/>
            <a:ext cx="536360" cy="546116"/>
          </a:xfrm>
          <a:prstGeom prst="rect">
            <a:avLst/>
          </a:prstGeom>
        </p:spPr>
      </p:pic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2439E22F-99E6-2F45-DB07-CE327BB061E6}"/>
              </a:ext>
            </a:extLst>
          </p:cNvPr>
          <p:cNvCxnSpPr>
            <a:cxnSpLocks/>
            <a:stCxn id="154" idx="3"/>
            <a:endCxn id="48" idx="1"/>
          </p:cNvCxnSpPr>
          <p:nvPr/>
        </p:nvCxnSpPr>
        <p:spPr>
          <a:xfrm flipV="1">
            <a:off x="4587096" y="1206317"/>
            <a:ext cx="539695" cy="2622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9B76234-0377-34A1-E7F8-D2DAC550F929}"/>
              </a:ext>
            </a:extLst>
          </p:cNvPr>
          <p:cNvGrpSpPr/>
          <p:nvPr/>
        </p:nvGrpSpPr>
        <p:grpSpPr>
          <a:xfrm>
            <a:off x="5126791" y="878545"/>
            <a:ext cx="655544" cy="655544"/>
            <a:chOff x="4719819" y="2163667"/>
            <a:chExt cx="655544" cy="655544"/>
          </a:xfrm>
        </p:grpSpPr>
        <p:pic>
          <p:nvPicPr>
            <p:cNvPr id="48" name="Picture 47" descr="Cell Phone Vector Icon 351222 Vector Art at Vecteezy">
              <a:extLst>
                <a:ext uri="{FF2B5EF4-FFF2-40B4-BE49-F238E27FC236}">
                  <a16:creationId xmlns:a16="http://schemas.microsoft.com/office/drawing/2014/main" id="{1385E461-CEB3-2388-0C58-137411837F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719819" y="2163667"/>
              <a:ext cx="655544" cy="655544"/>
            </a:xfrm>
            <a:prstGeom prst="rect">
              <a:avLst/>
            </a:prstGeom>
          </p:spPr>
        </p:pic>
        <p:pic>
          <p:nvPicPr>
            <p:cNvPr id="2" name="Picture 1" descr="HomeAssistant Local - Free download and install on Windows | Microsoft Store">
              <a:extLst>
                <a:ext uri="{FF2B5EF4-FFF2-40B4-BE49-F238E27FC236}">
                  <a16:creationId xmlns:a16="http://schemas.microsoft.com/office/drawing/2014/main" id="{9F3B60D8-7402-3B4E-0BC5-D5D5C45D4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 l="34399" r="38423" b="12384"/>
            <a:stretch>
              <a:fillRect/>
            </a:stretch>
          </p:blipFill>
          <p:spPr>
            <a:xfrm>
              <a:off x="4918207" y="2261189"/>
              <a:ext cx="258383" cy="452827"/>
            </a:xfrm>
            <a:prstGeom prst="rect">
              <a:avLst/>
            </a:prstGeom>
          </p:spPr>
        </p:pic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249426B0-C8F2-B9E0-2D59-EF662C0F1195}"/>
              </a:ext>
            </a:extLst>
          </p:cNvPr>
          <p:cNvSpPr/>
          <p:nvPr/>
        </p:nvSpPr>
        <p:spPr>
          <a:xfrm>
            <a:off x="426236" y="155875"/>
            <a:ext cx="7859469" cy="177321"/>
          </a:xfrm>
          <a:prstGeom prst="rect">
            <a:avLst/>
          </a:prstGeom>
          <a:solidFill>
            <a:srgbClr val="2C2A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chemeClr val="bg2"/>
                </a:solidFill>
              </a:rPr>
              <a:t>RASPBERRY VPN DDNS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9ADDD94-B8AD-32AC-7FC9-46417FCEA1E8}"/>
              </a:ext>
            </a:extLst>
          </p:cNvPr>
          <p:cNvCxnSpPr>
            <a:cxnSpLocks/>
            <a:stCxn id="39" idx="3"/>
            <a:endCxn id="44" idx="1"/>
          </p:cNvCxnSpPr>
          <p:nvPr/>
        </p:nvCxnSpPr>
        <p:spPr>
          <a:xfrm flipV="1">
            <a:off x="1483867" y="1207403"/>
            <a:ext cx="847603" cy="79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4D204A57-3EDF-1FB3-2568-542DD49FBD6D}"/>
              </a:ext>
            </a:extLst>
          </p:cNvPr>
          <p:cNvSpPr/>
          <p:nvPr/>
        </p:nvSpPr>
        <p:spPr>
          <a:xfrm>
            <a:off x="5780381" y="2726912"/>
            <a:ext cx="2171700" cy="203888"/>
          </a:xfrm>
          <a:prstGeom prst="rect">
            <a:avLst/>
          </a:prstGeom>
          <a:solidFill>
            <a:srgbClr val="2C2A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chemeClr val="bg2"/>
                </a:solidFill>
              </a:rPr>
              <a:t>CONEXIUNE PRIVATĂ 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A4273FD-2665-5276-BE06-4EA6778FF38C}"/>
              </a:ext>
            </a:extLst>
          </p:cNvPr>
          <p:cNvSpPr/>
          <p:nvPr/>
        </p:nvSpPr>
        <p:spPr>
          <a:xfrm>
            <a:off x="5060963" y="1907626"/>
            <a:ext cx="2891118" cy="203888"/>
          </a:xfrm>
          <a:prstGeom prst="rect">
            <a:avLst/>
          </a:prstGeom>
          <a:solidFill>
            <a:srgbClr val="2C2A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chemeClr val="bg2"/>
                </a:solidFill>
              </a:rPr>
              <a:t>TRANSLATAREA ADRESEI IP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8F86286-07A4-A459-2135-3FA882110A21}"/>
              </a:ext>
            </a:extLst>
          </p:cNvPr>
          <p:cNvCxnSpPr>
            <a:cxnSpLocks/>
            <a:stCxn id="133" idx="3"/>
            <a:endCxn id="30" idx="1"/>
          </p:cNvCxnSpPr>
          <p:nvPr/>
        </p:nvCxnSpPr>
        <p:spPr>
          <a:xfrm flipV="1">
            <a:off x="3595433" y="2828856"/>
            <a:ext cx="218494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BDC5027-D490-7BF9-D318-F8005440137F}"/>
              </a:ext>
            </a:extLst>
          </p:cNvPr>
          <p:cNvCxnSpPr>
            <a:cxnSpLocks/>
            <a:stCxn id="140" idx="3"/>
            <a:endCxn id="31" idx="1"/>
          </p:cNvCxnSpPr>
          <p:nvPr/>
        </p:nvCxnSpPr>
        <p:spPr>
          <a:xfrm>
            <a:off x="3761343" y="2007538"/>
            <a:ext cx="1299620" cy="2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BAA2FAB-FCC7-0F46-9C7C-677A52DEBC90}"/>
              </a:ext>
            </a:extLst>
          </p:cNvPr>
          <p:cNvCxnSpPr>
            <a:cxnSpLocks/>
            <a:stCxn id="41" idx="0"/>
            <a:endCxn id="43" idx="2"/>
          </p:cNvCxnSpPr>
          <p:nvPr/>
        </p:nvCxnSpPr>
        <p:spPr>
          <a:xfrm flipH="1" flipV="1">
            <a:off x="1153078" y="2301899"/>
            <a:ext cx="905" cy="1873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95409C5-DEDD-53FB-94D8-62E1A9507F21}"/>
              </a:ext>
            </a:extLst>
          </p:cNvPr>
          <p:cNvCxnSpPr>
            <a:cxnSpLocks/>
            <a:stCxn id="43" idx="0"/>
            <a:endCxn id="39" idx="2"/>
          </p:cNvCxnSpPr>
          <p:nvPr/>
        </p:nvCxnSpPr>
        <p:spPr>
          <a:xfrm flipV="1">
            <a:off x="1153078" y="1543143"/>
            <a:ext cx="1125" cy="1722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Picture 49" descr="Initial Setup and Configuration of Home Assistant on a Raspberry Pi –  JoshMcCarty.com">
            <a:extLst>
              <a:ext uri="{FF2B5EF4-FFF2-40B4-BE49-F238E27FC236}">
                <a16:creationId xmlns:a16="http://schemas.microsoft.com/office/drawing/2014/main" id="{4A4B7AEC-D3B4-8343-F505-79236A1B2736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41646"/>
          <a:stretch>
            <a:fillRect/>
          </a:stretch>
        </p:blipFill>
        <p:spPr>
          <a:xfrm>
            <a:off x="2316255" y="3316534"/>
            <a:ext cx="1069041" cy="1030492"/>
          </a:xfrm>
          <a:prstGeom prst="rect">
            <a:avLst/>
          </a:prstGeom>
        </p:spPr>
      </p:pic>
      <p:sp>
        <p:nvSpPr>
          <p:cNvPr id="57" name="Rectangle 56">
            <a:extLst>
              <a:ext uri="{FF2B5EF4-FFF2-40B4-BE49-F238E27FC236}">
                <a16:creationId xmlns:a16="http://schemas.microsoft.com/office/drawing/2014/main" id="{787C3336-1F8C-E1D5-9EF6-81C926254D72}"/>
              </a:ext>
            </a:extLst>
          </p:cNvPr>
          <p:cNvSpPr/>
          <p:nvPr/>
        </p:nvSpPr>
        <p:spPr>
          <a:xfrm>
            <a:off x="4323788" y="3730675"/>
            <a:ext cx="3628293" cy="203888"/>
          </a:xfrm>
          <a:prstGeom prst="rect">
            <a:avLst/>
          </a:prstGeom>
          <a:solidFill>
            <a:srgbClr val="2C2A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chemeClr val="bg2"/>
                </a:solidFill>
              </a:rPr>
              <a:t>RASPBERRY PI + HOME ASSISTANT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F96E9E02-B7BD-08C1-B6BA-DE6467E72DEA}"/>
              </a:ext>
            </a:extLst>
          </p:cNvPr>
          <p:cNvCxnSpPr>
            <a:cxnSpLocks/>
            <a:stCxn id="50" idx="3"/>
            <a:endCxn id="57" idx="1"/>
          </p:cNvCxnSpPr>
          <p:nvPr/>
        </p:nvCxnSpPr>
        <p:spPr>
          <a:xfrm>
            <a:off x="3385296" y="3831780"/>
            <a:ext cx="938492" cy="8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33" name="Picture 132" descr="WireGuard: fast, modern, secure VPN tunnel">
            <a:extLst>
              <a:ext uri="{FF2B5EF4-FFF2-40B4-BE49-F238E27FC236}">
                <a16:creationId xmlns:a16="http://schemas.microsoft.com/office/drawing/2014/main" id="{B8686BE1-4704-6D96-A94D-7FF8980A595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196341" y="2461595"/>
            <a:ext cx="1399092" cy="734523"/>
          </a:xfrm>
          <a:prstGeom prst="rect">
            <a:avLst/>
          </a:prstGeom>
        </p:spPr>
      </p:pic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7A905407-434F-CBF3-0BAD-E781E8C26AC7}"/>
              </a:ext>
            </a:extLst>
          </p:cNvPr>
          <p:cNvCxnSpPr>
            <a:cxnSpLocks/>
            <a:stCxn id="41" idx="3"/>
            <a:endCxn id="133" idx="1"/>
          </p:cNvCxnSpPr>
          <p:nvPr/>
        </p:nvCxnSpPr>
        <p:spPr>
          <a:xfrm flipV="1">
            <a:off x="1483647" y="2828857"/>
            <a:ext cx="712694" cy="14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0" name="Picture 139" descr="How to Update DuckDNS via LinuxServer.io's Docker Image">
            <a:extLst>
              <a:ext uri="{FF2B5EF4-FFF2-40B4-BE49-F238E27FC236}">
                <a16:creationId xmlns:a16="http://schemas.microsoft.com/office/drawing/2014/main" id="{20407114-037C-2D16-F002-A68708E6414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159354" y="1532874"/>
            <a:ext cx="1601989" cy="949327"/>
          </a:xfrm>
          <a:prstGeom prst="rect">
            <a:avLst/>
          </a:prstGeom>
        </p:spPr>
      </p:pic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DC920868-F381-A6DE-956E-EBA473A79CAA}"/>
              </a:ext>
            </a:extLst>
          </p:cNvPr>
          <p:cNvCxnSpPr>
            <a:cxnSpLocks/>
            <a:stCxn id="43" idx="3"/>
            <a:endCxn id="140" idx="1"/>
          </p:cNvCxnSpPr>
          <p:nvPr/>
        </p:nvCxnSpPr>
        <p:spPr>
          <a:xfrm flipV="1">
            <a:off x="1441837" y="2007538"/>
            <a:ext cx="717517" cy="10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4" name="Picture 43" descr="Internet-cloud Clip Art at Clker.com - vector clip art online, royalty free  &amp; public domain">
            <a:extLst>
              <a:ext uri="{FF2B5EF4-FFF2-40B4-BE49-F238E27FC236}">
                <a16:creationId xmlns:a16="http://schemas.microsoft.com/office/drawing/2014/main" id="{3E47715F-62CA-1671-C5E6-7B34172A4A5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331470" y="725806"/>
            <a:ext cx="1125268" cy="963193"/>
          </a:xfrm>
          <a:prstGeom prst="rect">
            <a:avLst/>
          </a:prstGeom>
        </p:spPr>
      </p:pic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F31E009A-25CA-8542-3E9E-AE86064282FA}"/>
              </a:ext>
            </a:extLst>
          </p:cNvPr>
          <p:cNvCxnSpPr>
            <a:cxnSpLocks/>
            <a:stCxn id="48" idx="3"/>
            <a:endCxn id="162" idx="1"/>
          </p:cNvCxnSpPr>
          <p:nvPr/>
        </p:nvCxnSpPr>
        <p:spPr>
          <a:xfrm>
            <a:off x="5782335" y="1206317"/>
            <a:ext cx="327500" cy="12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2" name="Rectangle 161">
            <a:extLst>
              <a:ext uri="{FF2B5EF4-FFF2-40B4-BE49-F238E27FC236}">
                <a16:creationId xmlns:a16="http://schemas.microsoft.com/office/drawing/2014/main" id="{35BE433F-50A4-F467-31BA-06075204FB60}"/>
              </a:ext>
            </a:extLst>
          </p:cNvPr>
          <p:cNvSpPr/>
          <p:nvPr/>
        </p:nvSpPr>
        <p:spPr>
          <a:xfrm>
            <a:off x="6109835" y="1105648"/>
            <a:ext cx="1840392" cy="203888"/>
          </a:xfrm>
          <a:prstGeom prst="rect">
            <a:avLst/>
          </a:prstGeom>
          <a:solidFill>
            <a:srgbClr val="2C2A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chemeClr val="bg2"/>
                </a:solidFill>
              </a:rPr>
              <a:t>UTILIZATOR FINAL</a:t>
            </a:r>
          </a:p>
        </p:txBody>
      </p:sp>
    </p:spTree>
    <p:extLst>
      <p:ext uri="{BB962C8B-B14F-4D97-AF65-F5344CB8AC3E}">
        <p14:creationId xmlns:p14="http://schemas.microsoft.com/office/powerpoint/2010/main" val="21712579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23BA069-B8CB-3BA1-308F-BCADDAB609D3}"/>
              </a:ext>
            </a:extLst>
          </p:cNvPr>
          <p:cNvGrpSpPr/>
          <p:nvPr/>
        </p:nvGrpSpPr>
        <p:grpSpPr>
          <a:xfrm>
            <a:off x="-258098" y="4115513"/>
            <a:ext cx="3691861" cy="1093386"/>
            <a:chOff x="-258098" y="4115513"/>
            <a:chExt cx="3691861" cy="1093386"/>
          </a:xfrm>
        </p:grpSpPr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CA02A2D1-2990-1FBE-B22E-F0B7A89023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0" y="4115513"/>
              <a:ext cx="3433763" cy="1027987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DC6DE0FF-9381-0776-6E49-EA9888BD337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258098" y="4267200"/>
              <a:ext cx="2924175" cy="876300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1B0FB0BC-0528-DD8D-B5C0-EC95D420A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-56997" y="4437574"/>
              <a:ext cx="2521974" cy="771325"/>
            </a:xfrm>
            <a:prstGeom prst="rect">
              <a:avLst/>
            </a:prstGeom>
          </p:spPr>
        </p:pic>
      </p:grpSp>
      <p:sp>
        <p:nvSpPr>
          <p:cNvPr id="77" name="Google Shape;77;p1"/>
          <p:cNvSpPr txBox="1">
            <a:spLocks noGrp="1"/>
          </p:cNvSpPr>
          <p:nvPr>
            <p:ph type="ctrTitle"/>
          </p:nvPr>
        </p:nvSpPr>
        <p:spPr>
          <a:xfrm>
            <a:off x="3988210" y="1292173"/>
            <a:ext cx="4175022" cy="2114551"/>
          </a:xfr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ro-RO" dirty="0" smtClean="0"/>
              <a:t>Air Quality</a:t>
            </a:r>
            <a:br>
              <a:rPr lang="ro-RO" dirty="0" smtClean="0"/>
            </a:br>
            <a:r>
              <a:rPr lang="ro-RO" dirty="0" smtClean="0"/>
              <a:t>Analyser</a:t>
            </a:r>
            <a:endParaRPr lang="en-US" noProof="0" dirty="0"/>
          </a:p>
        </p:txBody>
      </p:sp>
      <p:sp>
        <p:nvSpPr>
          <p:cNvPr id="78" name="Google Shape;78;p1"/>
          <p:cNvSpPr txBox="1">
            <a:spLocks noGrp="1"/>
          </p:cNvSpPr>
          <p:nvPr>
            <p:ph type="subTitle" idx="1"/>
          </p:nvPr>
        </p:nvSpPr>
        <p:spPr>
          <a:xfrm>
            <a:off x="3988210" y="3476574"/>
            <a:ext cx="4175022" cy="1476426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dirty="0"/>
              <a:t>INSTRUMENTATIE DE MASURA A PARAMETRILOR DE MEDIU </a:t>
            </a:r>
            <a:endParaRPr lang="ro-RO" noProof="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A81A90B-87CB-B761-1769-566DFE746EEF}"/>
              </a:ext>
            </a:extLst>
          </p:cNvPr>
          <p:cNvGrpSpPr/>
          <p:nvPr/>
        </p:nvGrpSpPr>
        <p:grpSpPr>
          <a:xfrm>
            <a:off x="8405486" y="-381319"/>
            <a:ext cx="840423" cy="2851520"/>
            <a:chOff x="8405486" y="-381319"/>
            <a:chExt cx="840423" cy="2851520"/>
          </a:xfrm>
        </p:grpSpPr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B4E0322B-7053-EC28-BC85-4CE9377F0B8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405486" y="0"/>
              <a:ext cx="738514" cy="2470201"/>
            </a:xfrm>
            <a:prstGeom prst="rect">
              <a:avLst/>
            </a:prstGeom>
          </p:spPr>
        </p:pic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2E8A36F8-E340-FFFA-7663-3C449987E6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695236" y="1"/>
              <a:ext cx="448764" cy="1747400"/>
            </a:xfrm>
            <a:prstGeom prst="rect">
              <a:avLst/>
            </a:prstGeom>
          </p:spPr>
        </p:pic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2DA1FD6B-F889-ACF2-9AFE-2D4926EE28B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=""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8853251" y="-381319"/>
              <a:ext cx="392658" cy="1283860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68F21C9A-2C02-1566-A7B2-CBCE5FCFDEB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6861" y="105604"/>
            <a:ext cx="1362859" cy="181994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FF0460C-AE3E-8729-648B-34872485F26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963578" y="207201"/>
            <a:ext cx="1630773" cy="1616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7112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262;p13">
            <a:extLst>
              <a:ext uri="{FF2B5EF4-FFF2-40B4-BE49-F238E27FC236}">
                <a16:creationId xmlns:a16="http://schemas.microsoft.com/office/drawing/2014/main" id="{A25BB2D2-6252-9E38-0DAE-17D56DA21E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3900" y="552450"/>
            <a:ext cx="5188086" cy="922389"/>
          </a:xfr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US" noProof="0" dirty="0" err="1"/>
              <a:t>Multumim</a:t>
            </a:r>
            <a:r>
              <a:rPr lang="en-US" noProof="0" dirty="0"/>
              <a:t>!</a:t>
            </a:r>
          </a:p>
        </p:txBody>
      </p:sp>
      <p:sp>
        <p:nvSpPr>
          <p:cNvPr id="12" name="Google Shape;263;p13">
            <a:extLst>
              <a:ext uri="{FF2B5EF4-FFF2-40B4-BE49-F238E27FC236}">
                <a16:creationId xmlns:a16="http://schemas.microsoft.com/office/drawing/2014/main" id="{78F08348-3686-9CFD-AB9C-45638635B7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3900" y="1474839"/>
            <a:ext cx="5188086" cy="1276204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noProof="0" dirty="0"/>
              <a:t>Ave</a:t>
            </a:r>
            <a:r>
              <a:rPr lang="ro-RO" noProof="0" dirty="0"/>
              <a:t>ți întrebări</a:t>
            </a:r>
            <a:r>
              <a:rPr lang="en-US" noProof="0" dirty="0"/>
              <a:t>?</a:t>
            </a:r>
          </a:p>
          <a:p>
            <a:pPr lvl="0"/>
            <a:r>
              <a:rPr lang="en-US" dirty="0"/>
              <a:t>c</a:t>
            </a:r>
            <a:r>
              <a:rPr lang="en-US" noProof="0" dirty="0"/>
              <a:t>ristian.ghervasa@student.tuiasi.ro </a:t>
            </a:r>
          </a:p>
        </p:txBody>
      </p:sp>
      <p:sp>
        <p:nvSpPr>
          <p:cNvPr id="13" name="Google Shape;264;p13">
            <a:extLst>
              <a:ext uri="{FF2B5EF4-FFF2-40B4-BE49-F238E27FC236}">
                <a16:creationId xmlns:a16="http://schemas.microsoft.com/office/drawing/2014/main" id="{68EAAB31-75DB-F678-1E4D-FA262B879CFB}"/>
              </a:ext>
            </a:extLst>
          </p:cNvPr>
          <p:cNvSpPr txBox="1"/>
          <p:nvPr/>
        </p:nvSpPr>
        <p:spPr>
          <a:xfrm>
            <a:off x="723900" y="4206645"/>
            <a:ext cx="3512820" cy="304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None/>
            </a:pPr>
            <a:r>
              <a:rPr lang="en-US" sz="1200" dirty="0">
                <a:solidFill>
                  <a:schemeClr val="bg2"/>
                </a:solidFill>
                <a:latin typeface="Lato" panose="020F0502020204030203" pitchFamily="34" charset="0"/>
                <a:ea typeface="Anaheim"/>
                <a:cs typeface="Anaheim"/>
                <a:sym typeface="Anaheim"/>
              </a:rPr>
              <a:t>Solu</a:t>
            </a:r>
            <a:r>
              <a:rPr lang="ro-RO" sz="1200" dirty="0">
                <a:solidFill>
                  <a:schemeClr val="bg2"/>
                </a:solidFill>
                <a:latin typeface="Lato" panose="020F0502020204030203" pitchFamily="34" charset="0"/>
                <a:ea typeface="Anaheim"/>
                <a:cs typeface="Anaheim"/>
                <a:sym typeface="Anaheim"/>
              </a:rPr>
              <a:t>ții avem, probleme să găsim.</a:t>
            </a:r>
            <a:endParaRPr sz="1200" b="0" i="0" u="none" strike="noStrike" cap="none" dirty="0">
              <a:solidFill>
                <a:schemeClr val="bg2"/>
              </a:solidFill>
              <a:latin typeface="Lato" panose="020F0502020204030203" pitchFamily="34" charset="0"/>
              <a:ea typeface="Anaheim"/>
              <a:cs typeface="Anaheim"/>
              <a:sym typeface="Anaheim"/>
            </a:endParaRPr>
          </a:p>
        </p:txBody>
      </p:sp>
      <p:grpSp>
        <p:nvGrpSpPr>
          <p:cNvPr id="18" name="Google Shape;7095;p20">
            <a:extLst>
              <a:ext uri="{FF2B5EF4-FFF2-40B4-BE49-F238E27FC236}">
                <a16:creationId xmlns:a16="http://schemas.microsoft.com/office/drawing/2014/main" id="{D3248095-523B-47ED-3A25-C5627ACC24E3}"/>
              </a:ext>
            </a:extLst>
          </p:cNvPr>
          <p:cNvGrpSpPr/>
          <p:nvPr/>
        </p:nvGrpSpPr>
        <p:grpSpPr>
          <a:xfrm>
            <a:off x="807984" y="2145799"/>
            <a:ext cx="426211" cy="426189"/>
            <a:chOff x="266768" y="1721375"/>
            <a:chExt cx="397907" cy="397887"/>
          </a:xfrm>
        </p:grpSpPr>
        <p:sp>
          <p:nvSpPr>
            <p:cNvPr id="19" name="Google Shape;7096;p20">
              <a:extLst>
                <a:ext uri="{FF2B5EF4-FFF2-40B4-BE49-F238E27FC236}">
                  <a16:creationId xmlns:a16="http://schemas.microsoft.com/office/drawing/2014/main" id="{EC60E8E2-05AC-EB5B-00C1-DFB6D2A7E3AB}"/>
                </a:ext>
              </a:extLst>
            </p:cNvPr>
            <p:cNvSpPr/>
            <p:nvPr/>
          </p:nvSpPr>
          <p:spPr>
            <a:xfrm>
              <a:off x="454843" y="1791037"/>
              <a:ext cx="136218" cy="328222"/>
            </a:xfrm>
            <a:custGeom>
              <a:avLst/>
              <a:gdLst/>
              <a:ahLst/>
              <a:cxnLst/>
              <a:rect l="l" t="t" r="r" b="b"/>
              <a:pathLst>
                <a:path w="6527" h="15727" extrusionOk="0">
                  <a:moveTo>
                    <a:pt x="4957" y="1"/>
                  </a:moveTo>
                  <a:cubicBezTo>
                    <a:pt x="4645" y="1"/>
                    <a:pt x="4336" y="24"/>
                    <a:pt x="4028" y="69"/>
                  </a:cubicBezTo>
                  <a:cubicBezTo>
                    <a:pt x="2588" y="280"/>
                    <a:pt x="1700" y="890"/>
                    <a:pt x="1675" y="2250"/>
                  </a:cubicBezTo>
                  <a:lnTo>
                    <a:pt x="1675" y="5040"/>
                  </a:lnTo>
                  <a:cubicBezTo>
                    <a:pt x="1675" y="5348"/>
                    <a:pt x="1426" y="5599"/>
                    <a:pt x="1118" y="5599"/>
                  </a:cubicBezTo>
                  <a:lnTo>
                    <a:pt x="0" y="5599"/>
                  </a:lnTo>
                  <a:lnTo>
                    <a:pt x="0" y="6715"/>
                  </a:lnTo>
                  <a:lnTo>
                    <a:pt x="1118" y="6715"/>
                  </a:lnTo>
                  <a:cubicBezTo>
                    <a:pt x="1426" y="6715"/>
                    <a:pt x="1675" y="6965"/>
                    <a:pt x="1675" y="7274"/>
                  </a:cubicBezTo>
                  <a:lnTo>
                    <a:pt x="1675" y="15727"/>
                  </a:lnTo>
                  <a:lnTo>
                    <a:pt x="3352" y="15727"/>
                  </a:lnTo>
                  <a:lnTo>
                    <a:pt x="3352" y="7274"/>
                  </a:lnTo>
                  <a:cubicBezTo>
                    <a:pt x="3352" y="6965"/>
                    <a:pt x="3602" y="6715"/>
                    <a:pt x="3910" y="6715"/>
                  </a:cubicBezTo>
                  <a:lnTo>
                    <a:pt x="5709" y="6715"/>
                  </a:lnTo>
                  <a:lnTo>
                    <a:pt x="5987" y="5599"/>
                  </a:lnTo>
                  <a:lnTo>
                    <a:pt x="3910" y="5599"/>
                  </a:lnTo>
                  <a:cubicBezTo>
                    <a:pt x="3602" y="5599"/>
                    <a:pt x="3352" y="5348"/>
                    <a:pt x="3352" y="5040"/>
                  </a:cubicBezTo>
                  <a:lnTo>
                    <a:pt x="3352" y="3253"/>
                  </a:lnTo>
                  <a:cubicBezTo>
                    <a:pt x="3352" y="2316"/>
                    <a:pt x="3942" y="1677"/>
                    <a:pt x="4968" y="1504"/>
                  </a:cubicBezTo>
                  <a:cubicBezTo>
                    <a:pt x="5157" y="1473"/>
                    <a:pt x="5339" y="1460"/>
                    <a:pt x="5511" y="1460"/>
                  </a:cubicBezTo>
                  <a:cubicBezTo>
                    <a:pt x="5810" y="1460"/>
                    <a:pt x="6082" y="1498"/>
                    <a:pt x="6324" y="1546"/>
                  </a:cubicBezTo>
                  <a:lnTo>
                    <a:pt x="6526" y="182"/>
                  </a:lnTo>
                  <a:cubicBezTo>
                    <a:pt x="5988" y="62"/>
                    <a:pt x="5468" y="1"/>
                    <a:pt x="49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" name="Google Shape;7097;p20">
              <a:extLst>
                <a:ext uri="{FF2B5EF4-FFF2-40B4-BE49-F238E27FC236}">
                  <a16:creationId xmlns:a16="http://schemas.microsoft.com/office/drawing/2014/main" id="{FF440CCB-F6BE-A6EB-6F67-7B01B1FD65BD}"/>
                </a:ext>
              </a:extLst>
            </p:cNvPr>
            <p:cNvSpPr/>
            <p:nvPr/>
          </p:nvSpPr>
          <p:spPr>
            <a:xfrm>
              <a:off x="266768" y="1721375"/>
              <a:ext cx="397907" cy="397887"/>
            </a:xfrm>
            <a:custGeom>
              <a:avLst/>
              <a:gdLst/>
              <a:ahLst/>
              <a:cxnLst/>
              <a:rect l="l" t="t" r="r" b="b"/>
              <a:pathLst>
                <a:path w="19066" h="19065" extrusionOk="0">
                  <a:moveTo>
                    <a:pt x="2794" y="0"/>
                  </a:moveTo>
                  <a:cubicBezTo>
                    <a:pt x="1255" y="0"/>
                    <a:pt x="1" y="1253"/>
                    <a:pt x="1" y="2793"/>
                  </a:cubicBezTo>
                  <a:lnTo>
                    <a:pt x="1" y="16271"/>
                  </a:lnTo>
                  <a:cubicBezTo>
                    <a:pt x="1" y="17812"/>
                    <a:pt x="1255" y="19065"/>
                    <a:pt x="2794" y="19065"/>
                  </a:cubicBezTo>
                  <a:lnTo>
                    <a:pt x="9571" y="19065"/>
                  </a:lnTo>
                  <a:lnTo>
                    <a:pt x="9571" y="11171"/>
                  </a:lnTo>
                  <a:lnTo>
                    <a:pt x="8453" y="11171"/>
                  </a:lnTo>
                  <a:cubicBezTo>
                    <a:pt x="8145" y="11171"/>
                    <a:pt x="7896" y="10920"/>
                    <a:pt x="7896" y="10612"/>
                  </a:cubicBezTo>
                  <a:lnTo>
                    <a:pt x="7896" y="8378"/>
                  </a:lnTo>
                  <a:cubicBezTo>
                    <a:pt x="7896" y="8070"/>
                    <a:pt x="8145" y="7819"/>
                    <a:pt x="8453" y="7819"/>
                  </a:cubicBezTo>
                  <a:lnTo>
                    <a:pt x="9571" y="7819"/>
                  </a:lnTo>
                  <a:lnTo>
                    <a:pt x="9571" y="5836"/>
                  </a:lnTo>
                  <a:cubicBezTo>
                    <a:pt x="9571" y="3710"/>
                    <a:pt x="10741" y="2615"/>
                    <a:pt x="12878" y="2302"/>
                  </a:cubicBezTo>
                  <a:cubicBezTo>
                    <a:pt x="13231" y="2249"/>
                    <a:pt x="13591" y="2223"/>
                    <a:pt x="13956" y="2223"/>
                  </a:cubicBezTo>
                  <a:cubicBezTo>
                    <a:pt x="14725" y="2223"/>
                    <a:pt x="15517" y="2339"/>
                    <a:pt x="16318" y="2567"/>
                  </a:cubicBezTo>
                  <a:cubicBezTo>
                    <a:pt x="16589" y="2643"/>
                    <a:pt x="16759" y="2908"/>
                    <a:pt x="16718" y="3186"/>
                  </a:cubicBezTo>
                  <a:lnTo>
                    <a:pt x="16352" y="5650"/>
                  </a:lnTo>
                  <a:cubicBezTo>
                    <a:pt x="16329" y="5806"/>
                    <a:pt x="16240" y="5944"/>
                    <a:pt x="16111" y="6031"/>
                  </a:cubicBezTo>
                  <a:cubicBezTo>
                    <a:pt x="16006" y="6102"/>
                    <a:pt x="15912" y="6127"/>
                    <a:pt x="15818" y="6127"/>
                  </a:cubicBezTo>
                  <a:cubicBezTo>
                    <a:pt x="15717" y="6127"/>
                    <a:pt x="15614" y="6098"/>
                    <a:pt x="15494" y="6068"/>
                  </a:cubicBezTo>
                  <a:cubicBezTo>
                    <a:pt x="15202" y="5995"/>
                    <a:pt x="14879" y="5914"/>
                    <a:pt x="14527" y="5914"/>
                  </a:cubicBezTo>
                  <a:cubicBezTo>
                    <a:pt x="14409" y="5914"/>
                    <a:pt x="14289" y="5923"/>
                    <a:pt x="14165" y="5944"/>
                  </a:cubicBezTo>
                  <a:cubicBezTo>
                    <a:pt x="13534" y="6050"/>
                    <a:pt x="13481" y="6333"/>
                    <a:pt x="13481" y="6590"/>
                  </a:cubicBezTo>
                  <a:lnTo>
                    <a:pt x="13481" y="7819"/>
                  </a:lnTo>
                  <a:lnTo>
                    <a:pt x="15715" y="7819"/>
                  </a:lnTo>
                  <a:cubicBezTo>
                    <a:pt x="15887" y="7819"/>
                    <a:pt x="16048" y="7899"/>
                    <a:pt x="16154" y="8035"/>
                  </a:cubicBezTo>
                  <a:cubicBezTo>
                    <a:pt x="16260" y="8169"/>
                    <a:pt x="16297" y="8346"/>
                    <a:pt x="16256" y="8513"/>
                  </a:cubicBezTo>
                  <a:lnTo>
                    <a:pt x="15697" y="10747"/>
                  </a:lnTo>
                  <a:cubicBezTo>
                    <a:pt x="15635" y="10996"/>
                    <a:pt x="15412" y="11170"/>
                    <a:pt x="15156" y="11170"/>
                  </a:cubicBezTo>
                  <a:lnTo>
                    <a:pt x="13481" y="11170"/>
                  </a:lnTo>
                  <a:lnTo>
                    <a:pt x="13481" y="19065"/>
                  </a:lnTo>
                  <a:lnTo>
                    <a:pt x="16272" y="19065"/>
                  </a:lnTo>
                  <a:cubicBezTo>
                    <a:pt x="17813" y="19065"/>
                    <a:pt x="19066" y="17810"/>
                    <a:pt x="19066" y="16271"/>
                  </a:cubicBezTo>
                  <a:lnTo>
                    <a:pt x="19066" y="2793"/>
                  </a:lnTo>
                  <a:cubicBezTo>
                    <a:pt x="19066" y="1253"/>
                    <a:pt x="17813" y="0"/>
                    <a:pt x="162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22" name="Google Shape;7105;p20">
            <a:extLst>
              <a:ext uri="{FF2B5EF4-FFF2-40B4-BE49-F238E27FC236}">
                <a16:creationId xmlns:a16="http://schemas.microsoft.com/office/drawing/2014/main" id="{294DB381-6F93-1395-47F2-8EC6C430080B}"/>
              </a:ext>
            </a:extLst>
          </p:cNvPr>
          <p:cNvGrpSpPr/>
          <p:nvPr/>
        </p:nvGrpSpPr>
        <p:grpSpPr>
          <a:xfrm>
            <a:off x="2105159" y="2145561"/>
            <a:ext cx="426189" cy="426189"/>
            <a:chOff x="1379798" y="1723250"/>
            <a:chExt cx="397887" cy="397887"/>
          </a:xfrm>
        </p:grpSpPr>
        <p:sp>
          <p:nvSpPr>
            <p:cNvPr id="24" name="Google Shape;7106;p20">
              <a:extLst>
                <a:ext uri="{FF2B5EF4-FFF2-40B4-BE49-F238E27FC236}">
                  <a16:creationId xmlns:a16="http://schemas.microsoft.com/office/drawing/2014/main" id="{4091846A-72BC-FEF1-045F-221D9D5CF48D}"/>
                </a:ext>
              </a:extLst>
            </p:cNvPr>
            <p:cNvSpPr/>
            <p:nvPr/>
          </p:nvSpPr>
          <p:spPr>
            <a:xfrm>
              <a:off x="1462169" y="1793977"/>
              <a:ext cx="23354" cy="23312"/>
            </a:xfrm>
            <a:custGeom>
              <a:avLst/>
              <a:gdLst/>
              <a:ahLst/>
              <a:cxnLst/>
              <a:rect l="l" t="t" r="r" b="b"/>
              <a:pathLst>
                <a:path w="1119" h="1117" extrusionOk="0">
                  <a:moveTo>
                    <a:pt x="559" y="1"/>
                  </a:moveTo>
                  <a:cubicBezTo>
                    <a:pt x="251" y="1"/>
                    <a:pt x="0" y="250"/>
                    <a:pt x="0" y="558"/>
                  </a:cubicBezTo>
                  <a:cubicBezTo>
                    <a:pt x="0" y="866"/>
                    <a:pt x="251" y="1117"/>
                    <a:pt x="559" y="1117"/>
                  </a:cubicBezTo>
                  <a:cubicBezTo>
                    <a:pt x="867" y="1117"/>
                    <a:pt x="1118" y="866"/>
                    <a:pt x="1118" y="558"/>
                  </a:cubicBezTo>
                  <a:cubicBezTo>
                    <a:pt x="1118" y="250"/>
                    <a:pt x="867" y="1"/>
                    <a:pt x="5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" name="Google Shape;7107;p20">
              <a:extLst>
                <a:ext uri="{FF2B5EF4-FFF2-40B4-BE49-F238E27FC236}">
                  <a16:creationId xmlns:a16="http://schemas.microsoft.com/office/drawing/2014/main" id="{EF7687D2-E1F1-98A5-3AFB-2691AB2B349F}"/>
                </a:ext>
              </a:extLst>
            </p:cNvPr>
            <p:cNvSpPr/>
            <p:nvPr/>
          </p:nvSpPr>
          <p:spPr>
            <a:xfrm>
              <a:off x="1379798" y="1723250"/>
              <a:ext cx="397887" cy="397887"/>
            </a:xfrm>
            <a:custGeom>
              <a:avLst/>
              <a:gdLst/>
              <a:ahLst/>
              <a:cxnLst/>
              <a:rect l="l" t="t" r="r" b="b"/>
              <a:pathLst>
                <a:path w="19065" h="19065" extrusionOk="0">
                  <a:moveTo>
                    <a:pt x="4506" y="2271"/>
                  </a:moveTo>
                  <a:cubicBezTo>
                    <a:pt x="5429" y="2271"/>
                    <a:pt x="6181" y="3023"/>
                    <a:pt x="6181" y="3947"/>
                  </a:cubicBezTo>
                  <a:cubicBezTo>
                    <a:pt x="6181" y="4872"/>
                    <a:pt x="5429" y="5622"/>
                    <a:pt x="4506" y="5622"/>
                  </a:cubicBezTo>
                  <a:cubicBezTo>
                    <a:pt x="3583" y="5622"/>
                    <a:pt x="2831" y="4872"/>
                    <a:pt x="2831" y="3947"/>
                  </a:cubicBezTo>
                  <a:cubicBezTo>
                    <a:pt x="2831" y="3023"/>
                    <a:pt x="3583" y="2271"/>
                    <a:pt x="4506" y="2271"/>
                  </a:cubicBezTo>
                  <a:close/>
                  <a:moveTo>
                    <a:pt x="5622" y="6740"/>
                  </a:moveTo>
                  <a:cubicBezTo>
                    <a:pt x="5932" y="6740"/>
                    <a:pt x="6181" y="6989"/>
                    <a:pt x="6181" y="7299"/>
                  </a:cubicBezTo>
                  <a:lnTo>
                    <a:pt x="6181" y="16234"/>
                  </a:lnTo>
                  <a:cubicBezTo>
                    <a:pt x="6181" y="16544"/>
                    <a:pt x="5932" y="16793"/>
                    <a:pt x="5622" y="16793"/>
                  </a:cubicBezTo>
                  <a:lnTo>
                    <a:pt x="3388" y="16793"/>
                  </a:lnTo>
                  <a:cubicBezTo>
                    <a:pt x="3080" y="16793"/>
                    <a:pt x="2831" y="16544"/>
                    <a:pt x="2831" y="16234"/>
                  </a:cubicBezTo>
                  <a:lnTo>
                    <a:pt x="2831" y="7299"/>
                  </a:lnTo>
                  <a:cubicBezTo>
                    <a:pt x="2831" y="6989"/>
                    <a:pt x="3080" y="6740"/>
                    <a:pt x="3388" y="6740"/>
                  </a:cubicBezTo>
                  <a:close/>
                  <a:moveTo>
                    <a:pt x="12596" y="6721"/>
                  </a:moveTo>
                  <a:cubicBezTo>
                    <a:pt x="12811" y="6721"/>
                    <a:pt x="13027" y="6739"/>
                    <a:pt x="13241" y="6774"/>
                  </a:cubicBezTo>
                  <a:cubicBezTo>
                    <a:pt x="15058" y="7069"/>
                    <a:pt x="16235" y="8557"/>
                    <a:pt x="16235" y="10223"/>
                  </a:cubicBezTo>
                  <a:lnTo>
                    <a:pt x="16235" y="16234"/>
                  </a:lnTo>
                  <a:cubicBezTo>
                    <a:pt x="16235" y="16544"/>
                    <a:pt x="15985" y="16793"/>
                    <a:pt x="15676" y="16793"/>
                  </a:cubicBezTo>
                  <a:lnTo>
                    <a:pt x="13441" y="16793"/>
                  </a:lnTo>
                  <a:cubicBezTo>
                    <a:pt x="13133" y="16793"/>
                    <a:pt x="12884" y="16544"/>
                    <a:pt x="12884" y="16234"/>
                  </a:cubicBezTo>
                  <a:lnTo>
                    <a:pt x="12884" y="11209"/>
                  </a:lnTo>
                  <a:cubicBezTo>
                    <a:pt x="12884" y="10593"/>
                    <a:pt x="12382" y="10091"/>
                    <a:pt x="11766" y="10091"/>
                  </a:cubicBezTo>
                  <a:cubicBezTo>
                    <a:pt x="11150" y="10091"/>
                    <a:pt x="10650" y="10593"/>
                    <a:pt x="10650" y="11209"/>
                  </a:cubicBezTo>
                  <a:lnTo>
                    <a:pt x="10650" y="16234"/>
                  </a:lnTo>
                  <a:cubicBezTo>
                    <a:pt x="10650" y="16544"/>
                    <a:pt x="10399" y="16793"/>
                    <a:pt x="10091" y="16793"/>
                  </a:cubicBezTo>
                  <a:lnTo>
                    <a:pt x="7857" y="16793"/>
                  </a:lnTo>
                  <a:cubicBezTo>
                    <a:pt x="7547" y="16793"/>
                    <a:pt x="7298" y="16544"/>
                    <a:pt x="7298" y="16234"/>
                  </a:cubicBezTo>
                  <a:lnTo>
                    <a:pt x="7298" y="7299"/>
                  </a:lnTo>
                  <a:cubicBezTo>
                    <a:pt x="7298" y="6989"/>
                    <a:pt x="7547" y="6740"/>
                    <a:pt x="7857" y="6740"/>
                  </a:cubicBezTo>
                  <a:lnTo>
                    <a:pt x="10091" y="6740"/>
                  </a:lnTo>
                  <a:cubicBezTo>
                    <a:pt x="10377" y="6740"/>
                    <a:pt x="10613" y="6956"/>
                    <a:pt x="10644" y="7234"/>
                  </a:cubicBezTo>
                  <a:cubicBezTo>
                    <a:pt x="11219" y="6901"/>
                    <a:pt x="11901" y="6721"/>
                    <a:pt x="12596" y="6721"/>
                  </a:cubicBezTo>
                  <a:close/>
                  <a:moveTo>
                    <a:pt x="2831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31" y="19065"/>
                  </a:cubicBezTo>
                  <a:lnTo>
                    <a:pt x="16235" y="19065"/>
                  </a:lnTo>
                  <a:cubicBezTo>
                    <a:pt x="17774" y="19065"/>
                    <a:pt x="19065" y="17775"/>
                    <a:pt x="19065" y="16234"/>
                  </a:cubicBezTo>
                  <a:lnTo>
                    <a:pt x="19065" y="2831"/>
                  </a:lnTo>
                  <a:cubicBezTo>
                    <a:pt x="19065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" name="Google Shape;7108;p20">
              <a:extLst>
                <a:ext uri="{FF2B5EF4-FFF2-40B4-BE49-F238E27FC236}">
                  <a16:creationId xmlns:a16="http://schemas.microsoft.com/office/drawing/2014/main" id="{6AF5064E-23C6-A3F1-AAD4-B898AD82C838}"/>
                </a:ext>
              </a:extLst>
            </p:cNvPr>
            <p:cNvSpPr/>
            <p:nvPr/>
          </p:nvSpPr>
          <p:spPr>
            <a:xfrm>
              <a:off x="1555413" y="1886846"/>
              <a:ext cx="139912" cy="163558"/>
            </a:xfrm>
            <a:custGeom>
              <a:avLst/>
              <a:gdLst/>
              <a:ahLst/>
              <a:cxnLst/>
              <a:rect l="l" t="t" r="r" b="b"/>
              <a:pathLst>
                <a:path w="6704" h="7837" extrusionOk="0">
                  <a:moveTo>
                    <a:pt x="4182" y="0"/>
                  </a:moveTo>
                  <a:cubicBezTo>
                    <a:pt x="3474" y="0"/>
                    <a:pt x="2782" y="261"/>
                    <a:pt x="2332" y="711"/>
                  </a:cubicBezTo>
                  <a:cubicBezTo>
                    <a:pt x="2108" y="935"/>
                    <a:pt x="1938" y="1142"/>
                    <a:pt x="1686" y="1142"/>
                  </a:cubicBezTo>
                  <a:cubicBezTo>
                    <a:pt x="1618" y="1142"/>
                    <a:pt x="1544" y="1127"/>
                    <a:pt x="1462" y="1093"/>
                  </a:cubicBezTo>
                  <a:cubicBezTo>
                    <a:pt x="1253" y="1006"/>
                    <a:pt x="1117" y="803"/>
                    <a:pt x="1117" y="576"/>
                  </a:cubicBezTo>
                  <a:lnTo>
                    <a:pt x="1117" y="17"/>
                  </a:lnTo>
                  <a:lnTo>
                    <a:pt x="1" y="17"/>
                  </a:lnTo>
                  <a:lnTo>
                    <a:pt x="1" y="7836"/>
                  </a:lnTo>
                  <a:lnTo>
                    <a:pt x="1117" y="7836"/>
                  </a:lnTo>
                  <a:lnTo>
                    <a:pt x="1117" y="3370"/>
                  </a:lnTo>
                  <a:cubicBezTo>
                    <a:pt x="1117" y="2137"/>
                    <a:pt x="2120" y="1135"/>
                    <a:pt x="3351" y="1135"/>
                  </a:cubicBezTo>
                  <a:cubicBezTo>
                    <a:pt x="4584" y="1135"/>
                    <a:pt x="5585" y="2137"/>
                    <a:pt x="5585" y="3370"/>
                  </a:cubicBezTo>
                  <a:lnTo>
                    <a:pt x="5585" y="7836"/>
                  </a:lnTo>
                  <a:lnTo>
                    <a:pt x="6703" y="7836"/>
                  </a:lnTo>
                  <a:lnTo>
                    <a:pt x="6703" y="2384"/>
                  </a:lnTo>
                  <a:cubicBezTo>
                    <a:pt x="6703" y="1266"/>
                    <a:pt x="5932" y="245"/>
                    <a:pt x="4648" y="38"/>
                  </a:cubicBezTo>
                  <a:cubicBezTo>
                    <a:pt x="4493" y="13"/>
                    <a:pt x="4337" y="0"/>
                    <a:pt x="41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7" name="Google Shape;7109;p20">
              <a:extLst>
                <a:ext uri="{FF2B5EF4-FFF2-40B4-BE49-F238E27FC236}">
                  <a16:creationId xmlns:a16="http://schemas.microsoft.com/office/drawing/2014/main" id="{44308E7D-CCA4-D6F3-A009-9BA5DCB29419}"/>
                </a:ext>
              </a:extLst>
            </p:cNvPr>
            <p:cNvSpPr/>
            <p:nvPr/>
          </p:nvSpPr>
          <p:spPr>
            <a:xfrm>
              <a:off x="1462169" y="1887200"/>
              <a:ext cx="23354" cy="163203"/>
            </a:xfrm>
            <a:custGeom>
              <a:avLst/>
              <a:gdLst/>
              <a:ahLst/>
              <a:cxnLst/>
              <a:rect l="l" t="t" r="r" b="b"/>
              <a:pathLst>
                <a:path w="1119" h="7820" extrusionOk="0">
                  <a:moveTo>
                    <a:pt x="0" y="0"/>
                  </a:moveTo>
                  <a:lnTo>
                    <a:pt x="0" y="7819"/>
                  </a:lnTo>
                  <a:lnTo>
                    <a:pt x="1118" y="7819"/>
                  </a:lnTo>
                  <a:lnTo>
                    <a:pt x="11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28" name="Google Shape;7110;p20">
            <a:extLst>
              <a:ext uri="{FF2B5EF4-FFF2-40B4-BE49-F238E27FC236}">
                <a16:creationId xmlns:a16="http://schemas.microsoft.com/office/drawing/2014/main" id="{ADD9FDF0-7CCC-4223-23F5-79B7425AF5F6}"/>
              </a:ext>
            </a:extLst>
          </p:cNvPr>
          <p:cNvGrpSpPr/>
          <p:nvPr/>
        </p:nvGrpSpPr>
        <p:grpSpPr>
          <a:xfrm>
            <a:off x="1454356" y="2145561"/>
            <a:ext cx="426167" cy="426189"/>
            <a:chOff x="864491" y="1723250"/>
            <a:chExt cx="397866" cy="397887"/>
          </a:xfrm>
        </p:grpSpPr>
        <p:sp>
          <p:nvSpPr>
            <p:cNvPr id="29" name="Google Shape;7111;p20">
              <a:extLst>
                <a:ext uri="{FF2B5EF4-FFF2-40B4-BE49-F238E27FC236}">
                  <a16:creationId xmlns:a16="http://schemas.microsoft.com/office/drawing/2014/main" id="{4BA4E66E-39BF-4DCF-6D11-D03A670A7FF7}"/>
                </a:ext>
              </a:extLst>
            </p:cNvPr>
            <p:cNvSpPr/>
            <p:nvPr/>
          </p:nvSpPr>
          <p:spPr>
            <a:xfrm>
              <a:off x="935197" y="179397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0" name="Google Shape;7112;p20">
              <a:extLst>
                <a:ext uri="{FF2B5EF4-FFF2-40B4-BE49-F238E27FC236}">
                  <a16:creationId xmlns:a16="http://schemas.microsoft.com/office/drawing/2014/main" id="{3A358D36-D9EC-C9D9-11C3-9DF75910FE49}"/>
                </a:ext>
              </a:extLst>
            </p:cNvPr>
            <p:cNvSpPr/>
            <p:nvPr/>
          </p:nvSpPr>
          <p:spPr>
            <a:xfrm>
              <a:off x="1005109" y="186391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1" name="Google Shape;7113;p20">
              <a:extLst>
                <a:ext uri="{FF2B5EF4-FFF2-40B4-BE49-F238E27FC236}">
                  <a16:creationId xmlns:a16="http://schemas.microsoft.com/office/drawing/2014/main" id="{F16A13CF-975C-F64A-EA21-A2FDD57E782C}"/>
                </a:ext>
              </a:extLst>
            </p:cNvPr>
            <p:cNvSpPr/>
            <p:nvPr/>
          </p:nvSpPr>
          <p:spPr>
            <a:xfrm>
              <a:off x="864491" y="172325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302109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Word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onsulting with Morph Transition by Slidesgo">
  <a:themeElements>
    <a:clrScheme name="Custom 3">
      <a:dk1>
        <a:srgbClr val="000000"/>
      </a:dk1>
      <a:lt1>
        <a:srgbClr val="2C2A96"/>
      </a:lt1>
      <a:dk2>
        <a:srgbClr val="FFFFFF"/>
      </a:dk2>
      <a:lt2>
        <a:srgbClr val="667EF1"/>
      </a:lt2>
      <a:accent1>
        <a:srgbClr val="B2BE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3028</TotalTime>
  <Words>283</Words>
  <Application>Microsoft Office PowerPoint</Application>
  <PresentationFormat>On-screen Show (16:9)</PresentationFormat>
  <Paragraphs>141</Paragraphs>
  <Slides>37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6" baseType="lpstr">
      <vt:lpstr>Sora</vt:lpstr>
      <vt:lpstr>Lato</vt:lpstr>
      <vt:lpstr>Anaheim</vt:lpstr>
      <vt:lpstr>Bebas Neue</vt:lpstr>
      <vt:lpstr>Calibri</vt:lpstr>
      <vt:lpstr>Segoe UI</vt:lpstr>
      <vt:lpstr>Sora SemiBold</vt:lpstr>
      <vt:lpstr>Arial</vt:lpstr>
      <vt:lpstr>Consulting with Morph Transition by Slidesgo</vt:lpstr>
      <vt:lpstr>PowerPoint Presentation</vt:lpstr>
      <vt:lpstr>Air Quality Analyser</vt:lpstr>
      <vt:lpstr>Prezentarea Proiectului</vt:lpstr>
      <vt:lpstr>Arhitectura Lucrarii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Arhitectura  hardware | software</vt:lpstr>
      <vt:lpstr>Arhitectura Sistemului</vt:lpstr>
      <vt:lpstr>Arhitectura Sistemului</vt:lpstr>
      <vt:lpstr>Arhitectura Sistemului</vt:lpstr>
      <vt:lpstr>Arhitectura Sistemului</vt:lpstr>
      <vt:lpstr>Arhitectura Sistemului</vt:lpstr>
      <vt:lpstr>Arhitectura Sistemului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Air Quality Analyser</vt:lpstr>
      <vt:lpstr>Multumim!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Consulting with Morph Transition</dc:title>
  <dc:creator>Cristian</dc:creator>
  <cp:lastModifiedBy>Giulia</cp:lastModifiedBy>
  <cp:revision>34</cp:revision>
  <cp:lastPrinted>2025-10-31T09:44:30Z</cp:lastPrinted>
  <dcterms:created xsi:type="dcterms:W3CDTF">2021-10-12T08:06:43Z</dcterms:created>
  <dcterms:modified xsi:type="dcterms:W3CDTF">2026-06-07T22:18:26Z</dcterms:modified>
</cp:coreProperties>
</file>